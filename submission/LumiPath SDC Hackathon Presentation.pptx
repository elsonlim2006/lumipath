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Lst>
  <p:sldSz cx="12192000" cy="6858000"/>
  <p:notesSz cx="6858000" cy="9144000"/>
  <p:embeddedFontLst>
    <p:embeddedFont>
      <p:font typeface="Bradley Hand ITC" panose="03070402050302030203" pitchFamily="66" charset="0"/>
      <p:regular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E17"/>
    <a:srgbClr val="F8FAFC"/>
    <a:srgbClr val="111827"/>
    <a:srgbClr val="FACC15"/>
    <a:srgbClr val="CBD5E1"/>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A5D5B-7FE5-4BF9-B30D-4D7B469BC537}" type="datetimeFigureOut">
              <a:rPr lang="en-MY" smtClean="0"/>
              <a:t>24/10/2026</a:t>
            </a:fld>
            <a:endParaRPr lang="en-MY"/>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MY"/>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128D8-4CD3-4D5B-A78D-FA4595B82010}" type="slidenum">
              <a:rPr lang="en-MY" smtClean="0"/>
              <a:t>‹#›</a:t>
            </a:fld>
            <a:endParaRPr lang="en-MY"/>
          </a:p>
        </p:txBody>
      </p:sp>
    </p:spTree>
    <p:extLst>
      <p:ext uri="{BB962C8B-B14F-4D97-AF65-F5344CB8AC3E}">
        <p14:creationId xmlns:p14="http://schemas.microsoft.com/office/powerpoint/2010/main" val="26155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MY" dirty="0"/>
          </a:p>
        </p:txBody>
      </p:sp>
      <p:sp>
        <p:nvSpPr>
          <p:cNvPr id="4" name="灯片编号占位符 3"/>
          <p:cNvSpPr>
            <a:spLocks noGrp="1"/>
          </p:cNvSpPr>
          <p:nvPr>
            <p:ph type="sldNum" sz="quarter" idx="5"/>
          </p:nvPr>
        </p:nvSpPr>
        <p:spPr/>
        <p:txBody>
          <a:bodyPr/>
          <a:lstStyle/>
          <a:p>
            <a:fld id="{C55128D8-4CD3-4D5B-A78D-FA4595B82010}" type="slidenum">
              <a:rPr lang="en-MY" smtClean="0"/>
              <a:t>2</a:t>
            </a:fld>
            <a:endParaRPr lang="en-MY"/>
          </a:p>
        </p:txBody>
      </p:sp>
    </p:spTree>
    <p:extLst>
      <p:ext uri="{BB962C8B-B14F-4D97-AF65-F5344CB8AC3E}">
        <p14:creationId xmlns:p14="http://schemas.microsoft.com/office/powerpoint/2010/main" val="3518975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4a"/><Relationship Id="rId1" Type="http://schemas.microsoft.com/office/2007/relationships/media" Target="../media/media11.m4a"/><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ectangle 1"/>
          <p:cNvSpPr/>
          <p:nvPr/>
        </p:nvSpPr>
        <p:spPr>
          <a:xfrm>
            <a:off x="762000" y="4031902"/>
            <a:ext cx="10668000" cy="600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2226022"/>
            <a:ext cx="1895475" cy="285750"/>
          </a:xfrm>
          <a:prstGeom prst="roundRect">
            <a:avLst>
              <a:gd name="adj" fmla="val 50000"/>
            </a:avLst>
          </a:prstGeom>
          <a:noFill/>
          <a:ln>
            <a:solidFill>
              <a:srgbClr val="1118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4031902"/>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2702272"/>
            <a:ext cx="2452594" cy="589905"/>
          </a:xfrm>
          <a:prstGeom prst="rect">
            <a:avLst/>
          </a:prstGeom>
          <a:noFill/>
        </p:spPr>
        <p:txBody>
          <a:bodyPr wrap="none" lIns="0" tIns="0" rIns="0" bIns="0" anchor="t">
            <a:spAutoFit/>
          </a:bodyPr>
          <a:lstStyle/>
          <a:p>
            <a:pPr algn="l">
              <a:lnSpc>
                <a:spcPts val="4620"/>
              </a:lnSpc>
            </a:pPr>
            <a:r>
              <a:rPr lang="en-MY" sz="4200" b="1" i="0" u="none" dirty="0" err="1">
                <a:solidFill>
                  <a:srgbClr val="FACC15"/>
                </a:solidFill>
                <a:latin typeface="Arial" panose="020B0604020202020204" pitchFamily="34" charset="0"/>
                <a:cs typeface="Arial" panose="020B0604020202020204" pitchFamily="34" charset="0"/>
              </a:rPr>
              <a:t>LumiPath</a:t>
            </a:r>
            <a:endParaRPr lang="en-MY" sz="4200" b="1" i="0" u="none" dirty="0">
              <a:solidFill>
                <a:srgbClr val="FACC15"/>
              </a:solidFill>
              <a:latin typeface="Arial" panose="020B0604020202020204" pitchFamily="34" charset="0"/>
              <a:cs typeface="Arial" panose="020B0604020202020204" pitchFamily="34" charset="0"/>
            </a:endParaRPr>
          </a:p>
        </p:txBody>
      </p:sp>
      <p:sp>
        <p:nvSpPr>
          <p:cNvPr id="6" name="TextBox 5"/>
          <p:cNvSpPr txBox="1"/>
          <p:nvPr/>
        </p:nvSpPr>
        <p:spPr>
          <a:xfrm>
            <a:off x="762000" y="3441352"/>
            <a:ext cx="3817392" cy="276999"/>
          </a:xfrm>
          <a:prstGeom prst="rect">
            <a:avLst/>
          </a:prstGeom>
          <a:noFill/>
        </p:spPr>
        <p:txBody>
          <a:bodyPr wrap="none" lIns="0" tIns="0" rIns="0" bIns="0" anchor="t">
            <a:spAutoFit/>
          </a:bodyPr>
          <a:lstStyle/>
          <a:p>
            <a:pPr algn="l"/>
            <a:r>
              <a:rPr lang="en-US" sz="1800" b="1" i="0" u="none" dirty="0">
                <a:solidFill>
                  <a:srgbClr val="FACC15"/>
                </a:solidFill>
                <a:latin typeface="Arial" panose="020B0604020202020204" pitchFamily="34" charset="0"/>
                <a:cs typeface="Arial" panose="020B0604020202020204" pitchFamily="34" charset="0"/>
              </a:rPr>
              <a:t>Future-Ready Workforce Navigator</a:t>
            </a:r>
          </a:p>
        </p:txBody>
      </p:sp>
      <p:sp>
        <p:nvSpPr>
          <p:cNvPr id="7" name="TextBox 6"/>
          <p:cNvSpPr txBox="1"/>
          <p:nvPr/>
        </p:nvSpPr>
        <p:spPr>
          <a:xfrm>
            <a:off x="914400" y="2283172"/>
            <a:ext cx="1685925" cy="161583"/>
          </a:xfrm>
          <a:prstGeom prst="rect">
            <a:avLst/>
          </a:prstGeom>
          <a:noFill/>
        </p:spPr>
        <p:txBody>
          <a:bodyPr wrap="square" lIns="0" tIns="0" rIns="0" bIns="0" anchor="t">
            <a:spAutoFit/>
          </a:bodyPr>
          <a:lstStyle/>
          <a:p>
            <a:pPr algn="l"/>
            <a:r>
              <a:rPr sz="1050" b="1" i="0" u="none" dirty="0">
                <a:solidFill>
                  <a:srgbClr val="F8FAFC"/>
                </a:solidFill>
                <a:latin typeface="Arial" panose="020B0604020202020204" pitchFamily="34" charset="0"/>
                <a:cs typeface="Arial" panose="020B0604020202020204" pitchFamily="34" charset="0"/>
              </a:rPr>
              <a:t>SDC HACKATHON 202</a:t>
            </a:r>
            <a:r>
              <a:rPr lang="en-MY" sz="1050" b="1" i="0" u="none" dirty="0">
                <a:solidFill>
                  <a:srgbClr val="F8FAFC"/>
                </a:solidFill>
                <a:latin typeface="Arial" panose="020B0604020202020204" pitchFamily="34" charset="0"/>
                <a:cs typeface="Arial" panose="020B0604020202020204" pitchFamily="34" charset="0"/>
              </a:rPr>
              <a:t>6</a:t>
            </a:r>
            <a:endParaRPr sz="1050" b="1" i="0" u="none" dirty="0">
              <a:solidFill>
                <a:srgbClr val="F8FAFC"/>
              </a:solidFill>
              <a:latin typeface="Arial" panose="020B0604020202020204" pitchFamily="34" charset="0"/>
              <a:cs typeface="Arial" panose="020B0604020202020204" pitchFamily="34" charset="0"/>
            </a:endParaRPr>
          </a:p>
        </p:txBody>
      </p:sp>
      <p:sp>
        <p:nvSpPr>
          <p:cNvPr id="8" name="TextBox 7"/>
          <p:cNvSpPr txBox="1"/>
          <p:nvPr/>
        </p:nvSpPr>
        <p:spPr>
          <a:xfrm>
            <a:off x="2771775" y="2283172"/>
            <a:ext cx="3082575" cy="161583"/>
          </a:xfrm>
          <a:prstGeom prst="rect">
            <a:avLst/>
          </a:prstGeom>
          <a:noFill/>
        </p:spPr>
        <p:txBody>
          <a:bodyPr wrap="none" lIns="0" tIns="0" rIns="0" bIns="0" anchor="t">
            <a:spAutoFit/>
          </a:bodyPr>
          <a:lstStyle/>
          <a:p>
            <a:pPr algn="l"/>
            <a:r>
              <a:rPr sz="1050" b="0" i="0" u="none" dirty="0">
                <a:solidFill>
                  <a:srgbClr val="CBD5E1"/>
                </a:solidFill>
                <a:latin typeface="Arial" panose="020B0604020202020204" pitchFamily="34" charset="0"/>
                <a:cs typeface="Arial" panose="020B0604020202020204" pitchFamily="34" charset="0"/>
              </a:rPr>
              <a:t>• PHASE 1: PRELIMINARY PROJECT PROPOSAL</a:t>
            </a:r>
          </a:p>
        </p:txBody>
      </p:sp>
      <p:sp>
        <p:nvSpPr>
          <p:cNvPr id="9" name="TextBox 8"/>
          <p:cNvSpPr txBox="1"/>
          <p:nvPr/>
        </p:nvSpPr>
        <p:spPr>
          <a:xfrm>
            <a:off x="762000" y="4270027"/>
            <a:ext cx="237244" cy="138499"/>
          </a:xfrm>
          <a:prstGeom prst="rect">
            <a:avLst/>
          </a:prstGeom>
          <a:noFill/>
        </p:spPr>
        <p:txBody>
          <a:bodyPr wrap="none" lIns="0" tIns="0" rIns="0" bIns="0" anchor="t">
            <a:spAutoFit/>
          </a:bodyPr>
          <a:lstStyle/>
          <a:p>
            <a:pPr algn="l"/>
            <a:r>
              <a:rPr sz="900" b="0" i="0" u="none" dirty="0">
                <a:solidFill>
                  <a:srgbClr val="CBD5E1"/>
                </a:solidFill>
                <a:latin typeface="Arial" panose="020B0604020202020204" pitchFamily="34" charset="0"/>
                <a:cs typeface="Arial" panose="020B0604020202020204" pitchFamily="34" charset="0"/>
              </a:rPr>
              <a:t>Host</a:t>
            </a:r>
          </a:p>
        </p:txBody>
      </p:sp>
      <p:sp>
        <p:nvSpPr>
          <p:cNvPr id="10" name="TextBox 9"/>
          <p:cNvSpPr txBox="1"/>
          <p:nvPr/>
        </p:nvSpPr>
        <p:spPr>
          <a:xfrm>
            <a:off x="762000" y="4451002"/>
            <a:ext cx="3013646" cy="173124"/>
          </a:xfrm>
          <a:prstGeom prst="rect">
            <a:avLst/>
          </a:prstGeom>
          <a:noFill/>
        </p:spPr>
        <p:txBody>
          <a:bodyPr wrap="none" lIns="0" tIns="0" rIns="0" bIns="0" anchor="t">
            <a:spAutoFit/>
          </a:bodyPr>
          <a:lstStyle/>
          <a:p>
            <a:pPr algn="l"/>
            <a:r>
              <a:rPr sz="1125" b="1" i="0" u="none" dirty="0">
                <a:solidFill>
                  <a:srgbClr val="F8FAFC"/>
                </a:solidFill>
                <a:latin typeface="Arial" panose="020B0604020202020204" pitchFamily="34" charset="0"/>
                <a:cs typeface="Arial" panose="020B0604020202020204" pitchFamily="34" charset="0"/>
              </a:rPr>
              <a:t>Xiamen University Malaysia (XMUM) AI Club</a:t>
            </a:r>
          </a:p>
        </p:txBody>
      </p:sp>
      <p:sp>
        <p:nvSpPr>
          <p:cNvPr id="11" name="TextBox 10"/>
          <p:cNvSpPr txBox="1"/>
          <p:nvPr/>
        </p:nvSpPr>
        <p:spPr>
          <a:xfrm>
            <a:off x="4095750" y="4270027"/>
            <a:ext cx="1083630" cy="138499"/>
          </a:xfrm>
          <a:prstGeom prst="rect">
            <a:avLst/>
          </a:prstGeom>
          <a:noFill/>
        </p:spPr>
        <p:txBody>
          <a:bodyPr wrap="none" lIns="0" tIns="0" rIns="0" bIns="0" anchor="t">
            <a:spAutoFit/>
          </a:bodyPr>
          <a:lstStyle/>
          <a:p>
            <a:pPr algn="l"/>
            <a:r>
              <a:rPr sz="900" b="0" i="0" u="none" dirty="0">
                <a:solidFill>
                  <a:srgbClr val="F8FAFC"/>
                </a:solidFill>
                <a:latin typeface="Arial" panose="020B0604020202020204" pitchFamily="34" charset="0"/>
                <a:cs typeface="Arial" panose="020B0604020202020204" pitchFamily="34" charset="0"/>
              </a:rPr>
              <a:t>Submission Deadline</a:t>
            </a:r>
          </a:p>
        </p:txBody>
      </p:sp>
      <p:sp>
        <p:nvSpPr>
          <p:cNvPr id="12" name="TextBox 11"/>
          <p:cNvSpPr txBox="1"/>
          <p:nvPr/>
        </p:nvSpPr>
        <p:spPr>
          <a:xfrm>
            <a:off x="4095750" y="4451002"/>
            <a:ext cx="1114088" cy="173124"/>
          </a:xfrm>
          <a:prstGeom prst="rect">
            <a:avLst/>
          </a:prstGeom>
          <a:noFill/>
        </p:spPr>
        <p:txBody>
          <a:bodyPr wrap="none" lIns="0" tIns="0" rIns="0" bIns="0" anchor="t">
            <a:spAutoFit/>
          </a:bodyPr>
          <a:lstStyle/>
          <a:p>
            <a:pPr algn="l"/>
            <a:r>
              <a:rPr sz="1125" b="1" i="0" u="none" dirty="0">
                <a:solidFill>
                  <a:srgbClr val="F8FAFC"/>
                </a:solidFill>
                <a:latin typeface="Arial" panose="020B0604020202020204" pitchFamily="34" charset="0"/>
                <a:cs typeface="Arial" panose="020B0604020202020204" pitchFamily="34" charset="0"/>
              </a:rPr>
              <a:t>25 October 2026</a:t>
            </a:r>
          </a:p>
        </p:txBody>
      </p:sp>
      <p:pic>
        <p:nvPicPr>
          <p:cNvPr id="14" name="音频 13">
            <a:hlinkClick r:id="" action="ppaction://media"/>
            <a:extLst>
              <a:ext uri="{FF2B5EF4-FFF2-40B4-BE49-F238E27FC236}">
                <a16:creationId xmlns:a16="http://schemas.microsoft.com/office/drawing/2014/main" id="{47208C12-7744-B8E5-8205-C058516DE30A}"/>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348"/>
    </mc:Choice>
    <mc:Fallback>
      <p:transition spd="slow" advTm="153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99021307"/>
              </p:ext>
            </p:extLst>
          </p:nvPr>
        </p:nvGraphicFramePr>
        <p:xfrm>
          <a:off x="762000" y="2619375"/>
          <a:ext cx="10668000" cy="2657475"/>
        </p:xfrm>
        <a:graphic>
          <a:graphicData uri="http://schemas.openxmlformats.org/drawingml/2006/table">
            <a:tbl>
              <a:tblPr/>
              <a:tblGrid>
                <a:gridCol w="4267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531495">
                <a:tc>
                  <a:txBody>
                    <a:bodyPr/>
                    <a:lstStyle/>
                    <a:p>
                      <a:pPr algn="l"/>
                      <a:r>
                        <a:rPr sz="1350" b="1" i="0" u="none" dirty="0">
                          <a:solidFill>
                            <a:srgbClr val="F8FAFC"/>
                          </a:solidFill>
                          <a:latin typeface="Times New Roman" panose="02020603050405020304" pitchFamily="18" charset="0"/>
                          <a:cs typeface="Times New Roman" panose="02020603050405020304" pitchFamily="18" charset="0"/>
                        </a:rPr>
                        <a:t>Team Name</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tc>
                  <a:txBody>
                    <a:bodyPr/>
                    <a:lstStyle/>
                    <a:p>
                      <a:pPr algn="l"/>
                      <a:r>
                        <a:rPr sz="1350" b="0" i="0" u="none" dirty="0">
                          <a:solidFill>
                            <a:srgbClr val="F8FAFC"/>
                          </a:solidFill>
                          <a:latin typeface="Times New Roman" panose="02020603050405020304" pitchFamily="18" charset="0"/>
                          <a:cs typeface="Times New Roman" panose="02020603050405020304" pitchFamily="18" charset="0"/>
                        </a:rPr>
                        <a:t>White Cloud</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extLst>
                  <a:ext uri="{0D108BD9-81ED-4DB2-BD59-A6C34878D82A}">
                    <a16:rowId xmlns:a16="http://schemas.microsoft.com/office/drawing/2014/main" val="10000"/>
                  </a:ext>
                </a:extLst>
              </a:tr>
              <a:tr h="531495">
                <a:tc>
                  <a:txBody>
                    <a:bodyPr/>
                    <a:lstStyle/>
                    <a:p>
                      <a:pPr algn="l"/>
                      <a:r>
                        <a:rPr sz="1350" b="1" i="0" u="none" dirty="0">
                          <a:solidFill>
                            <a:srgbClr val="F8FAFC"/>
                          </a:solidFill>
                          <a:latin typeface="Times New Roman" panose="02020603050405020304" pitchFamily="18" charset="0"/>
                          <a:cs typeface="Times New Roman" panose="02020603050405020304" pitchFamily="18" charset="0"/>
                        </a:rPr>
                        <a:t>Selected Domain &amp; SDG Track</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tc>
                  <a:txBody>
                    <a:bodyPr/>
                    <a:lstStyle/>
                    <a:p>
                      <a:pPr algn="l"/>
                      <a:r>
                        <a:rPr sz="1350" b="0" i="0" u="none" dirty="0">
                          <a:solidFill>
                            <a:srgbClr val="F8FAFC"/>
                          </a:solidFill>
                          <a:latin typeface="Times New Roman" panose="02020603050405020304" pitchFamily="18" charset="0"/>
                          <a:cs typeface="Times New Roman" panose="02020603050405020304" pitchFamily="18" charset="0"/>
                        </a:rPr>
                        <a:t>Domain 1 (SDG 4 and SDG 8)</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extLst>
                  <a:ext uri="{0D108BD9-81ED-4DB2-BD59-A6C34878D82A}">
                    <a16:rowId xmlns:a16="http://schemas.microsoft.com/office/drawing/2014/main" val="10001"/>
                  </a:ext>
                </a:extLst>
              </a:tr>
              <a:tr h="531495">
                <a:tc>
                  <a:txBody>
                    <a:bodyPr/>
                    <a:lstStyle/>
                    <a:p>
                      <a:pPr algn="l"/>
                      <a:r>
                        <a:rPr sz="1350" b="1" i="0" u="none" dirty="0">
                          <a:solidFill>
                            <a:srgbClr val="F8FAFC"/>
                          </a:solidFill>
                          <a:latin typeface="Times New Roman" panose="02020603050405020304" pitchFamily="18" charset="0"/>
                          <a:cs typeface="Times New Roman" panose="02020603050405020304" pitchFamily="18" charset="0"/>
                        </a:rPr>
                        <a:t>Project / Solution Name</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tc>
                  <a:txBody>
                    <a:bodyPr/>
                    <a:lstStyle/>
                    <a:p>
                      <a:pPr algn="l"/>
                      <a:r>
                        <a:rPr sz="1350" b="0" i="0" u="none" dirty="0" err="1">
                          <a:solidFill>
                            <a:srgbClr val="F8FAFC"/>
                          </a:solidFill>
                          <a:latin typeface="Times New Roman" panose="02020603050405020304" pitchFamily="18" charset="0"/>
                          <a:cs typeface="Times New Roman" panose="02020603050405020304" pitchFamily="18" charset="0"/>
                        </a:rPr>
                        <a:t>LumiPath</a:t>
                      </a:r>
                      <a:endParaRPr sz="1350" b="0" i="0" u="none" dirty="0">
                        <a:solidFill>
                          <a:srgbClr val="F8FAFC"/>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extLst>
                  <a:ext uri="{0D108BD9-81ED-4DB2-BD59-A6C34878D82A}">
                    <a16:rowId xmlns:a16="http://schemas.microsoft.com/office/drawing/2014/main" val="10002"/>
                  </a:ext>
                </a:extLst>
              </a:tr>
              <a:tr h="531495">
                <a:tc>
                  <a:txBody>
                    <a:bodyPr/>
                    <a:lstStyle/>
                    <a:p>
                      <a:pPr algn="l"/>
                      <a:r>
                        <a:rPr sz="1350" b="1" i="0" u="none">
                          <a:solidFill>
                            <a:srgbClr val="F8FAFC"/>
                          </a:solidFill>
                          <a:latin typeface="Times New Roman" panose="02020603050405020304" pitchFamily="18" charset="0"/>
                          <a:cs typeface="Times New Roman" panose="02020603050405020304" pitchFamily="18" charset="0"/>
                        </a:rPr>
                        <a:t>Team Leader &amp; Affiliation</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tc>
                  <a:txBody>
                    <a:bodyPr/>
                    <a:lstStyle/>
                    <a:p>
                      <a:pPr algn="l"/>
                      <a:r>
                        <a:rPr sz="1350" b="0" i="0" u="none" dirty="0">
                          <a:solidFill>
                            <a:srgbClr val="F8FAFC"/>
                          </a:solidFill>
                          <a:latin typeface="Times New Roman" panose="02020603050405020304" pitchFamily="18" charset="0"/>
                          <a:cs typeface="Times New Roman" panose="02020603050405020304" pitchFamily="18" charset="0"/>
                        </a:rPr>
                        <a:t>Elson Lim Zhong Qin (Xiamen University Malaysia)</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extLst>
                  <a:ext uri="{0D108BD9-81ED-4DB2-BD59-A6C34878D82A}">
                    <a16:rowId xmlns:a16="http://schemas.microsoft.com/office/drawing/2014/main" val="10003"/>
                  </a:ext>
                </a:extLst>
              </a:tr>
              <a:tr h="531495">
                <a:tc>
                  <a:txBody>
                    <a:bodyPr/>
                    <a:lstStyle/>
                    <a:p>
                      <a:pPr algn="l"/>
                      <a:r>
                        <a:rPr sz="1350" b="1" i="0" u="none" dirty="0">
                          <a:solidFill>
                            <a:srgbClr val="F8FAFC"/>
                          </a:solidFill>
                          <a:latin typeface="Times New Roman" panose="02020603050405020304" pitchFamily="18" charset="0"/>
                          <a:cs typeface="Times New Roman" panose="02020603050405020304" pitchFamily="18" charset="0"/>
                        </a:rPr>
                        <a:t>Number of Team Members</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tc>
                  <a:txBody>
                    <a:bodyPr/>
                    <a:lstStyle/>
                    <a:p>
                      <a:pPr algn="l"/>
                      <a:r>
                        <a:rPr sz="1350" b="0" i="0" u="none" dirty="0">
                          <a:solidFill>
                            <a:srgbClr val="F8FAFC"/>
                          </a:solidFill>
                          <a:latin typeface="Times New Roman" panose="02020603050405020304" pitchFamily="18" charset="0"/>
                          <a:cs typeface="Times New Roman" panose="02020603050405020304" pitchFamily="18" charset="0"/>
                        </a:rPr>
                        <a:t>3</a:t>
                      </a:r>
                    </a:p>
                  </a:txBody>
                  <a:tcPr marL="63500" marR="63500" marT="25400" marB="25400" anchor="ctr">
                    <a:lnL w="12700" cap="flat" cmpd="sng" algn="ctr">
                      <a:solidFill>
                        <a:srgbClr val="F8FAFC"/>
                      </a:solidFill>
                      <a:prstDash val="solid"/>
                      <a:round/>
                      <a:headEnd type="none" w="med" len="med"/>
                      <a:tailEnd type="none" w="med" len="med"/>
                    </a:lnL>
                    <a:lnR w="12700" cap="flat" cmpd="sng" algn="ctr">
                      <a:solidFill>
                        <a:srgbClr val="F8FAFC"/>
                      </a:solidFill>
                      <a:prstDash val="solid"/>
                      <a:round/>
                      <a:headEnd type="none" w="med" len="med"/>
                      <a:tailEnd type="none" w="med" len="med"/>
                    </a:lnR>
                    <a:lnT w="12700" cap="flat" cmpd="sng" algn="ctr">
                      <a:solidFill>
                        <a:srgbClr val="F8FAFC"/>
                      </a:solidFill>
                      <a:prstDash val="solid"/>
                      <a:round/>
                      <a:headEnd type="none" w="med" len="med"/>
                      <a:tailEnd type="none" w="med" len="med"/>
                    </a:lnT>
                    <a:lnB w="12700" cap="flat" cmpd="sng" algn="ctr">
                      <a:solidFill>
                        <a:srgbClr val="F8FAFC"/>
                      </a:solidFill>
                      <a:prstDash val="solid"/>
                      <a:round/>
                      <a:headEnd type="none" w="med" len="med"/>
                      <a:tailEnd type="none" w="med" len="med"/>
                    </a:lnB>
                    <a:solidFill>
                      <a:srgbClr val="111827"/>
                    </a:solidFill>
                  </a:tcPr>
                </a:tc>
                <a:extLst>
                  <a:ext uri="{0D108BD9-81ED-4DB2-BD59-A6C34878D82A}">
                    <a16:rowId xmlns:a16="http://schemas.microsoft.com/office/drawing/2014/main" val="10004"/>
                  </a:ext>
                </a:extLst>
              </a:tr>
            </a:tbl>
          </a:graphicData>
        </a:graphic>
      </p:graphicFrame>
      <p:sp>
        <p:nvSpPr>
          <p:cNvPr id="3" name="TextBox 2"/>
          <p:cNvSpPr txBox="1"/>
          <p:nvPr/>
        </p:nvSpPr>
        <p:spPr>
          <a:xfrm>
            <a:off x="762000" y="533400"/>
            <a:ext cx="4013535"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1. Team &amp; Project Overview</a:t>
            </a:r>
          </a:p>
        </p:txBody>
      </p:sp>
      <p:sp>
        <p:nvSpPr>
          <p:cNvPr id="4" name="TextBox 3"/>
          <p:cNvSpPr txBox="1"/>
          <p:nvPr/>
        </p:nvSpPr>
        <p:spPr>
          <a:xfrm>
            <a:off x="762000" y="990600"/>
            <a:ext cx="2932341" cy="184666"/>
          </a:xfrm>
          <a:prstGeom prst="rect">
            <a:avLst/>
          </a:prstGeom>
          <a:noFill/>
        </p:spPr>
        <p:txBody>
          <a:bodyPr wrap="none" lIns="0" tIns="0" rIns="0" bIns="0" anchor="t">
            <a:spAutoFit/>
          </a:bodyPr>
          <a:lstStyle/>
          <a:p>
            <a:pPr algn="l"/>
            <a:r>
              <a:rPr sz="1200" b="0" i="0" u="none" dirty="0">
                <a:solidFill>
                  <a:srgbClr val="CBD5E1"/>
                </a:solidFill>
                <a:latin typeface="Arial" panose="020B0604020202020204" pitchFamily="34" charset="0"/>
                <a:cs typeface="Arial" panose="020B0604020202020204" pitchFamily="34" charset="0"/>
              </a:rPr>
              <a:t>Key project metadata &amp; university affiliation</a:t>
            </a:r>
          </a:p>
        </p:txBody>
      </p:sp>
      <p:pic>
        <p:nvPicPr>
          <p:cNvPr id="6" name="音频 5">
            <a:hlinkClick r:id="" action="ppaction://media"/>
            <a:extLst>
              <a:ext uri="{FF2B5EF4-FFF2-40B4-BE49-F238E27FC236}">
                <a16:creationId xmlns:a16="http://schemas.microsoft.com/office/drawing/2014/main" id="{AE713225-D65E-5C98-5C92-8AA028F1EDD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450000" t="-231250" r="-450000" b="-231250"/>
          <a:stretch>
            <a:fillRect/>
          </a:stretch>
        </p:blipFill>
        <p:spPr>
          <a:xfrm>
            <a:off x="9144000" y="5143500"/>
            <a:ext cx="3048000" cy="1714500"/>
          </a:xfrm>
          <a:prstGeom prst="rect">
            <a:avLst/>
          </a:prstGeom>
        </p:spPr>
      </p:pic>
    </p:spTree>
  </p:cSld>
  <p:clrMapOvr>
    <a:masterClrMapping/>
  </p:clrMapOvr>
  <p:transition advTm="1672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ectangle 1"/>
          <p:cNvSpPr/>
          <p:nvPr/>
        </p:nvSpPr>
        <p:spPr>
          <a:xfrm>
            <a:off x="762000" y="2528887"/>
            <a:ext cx="10668000" cy="2838450"/>
          </a:xfrm>
          <a:prstGeom prst="rect">
            <a:avLst/>
          </a:prstGeom>
          <a:solidFill>
            <a:srgbClr val="111827"/>
          </a:solidFill>
          <a:ln>
            <a:solidFill>
              <a:srgbClr val="F8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528887"/>
            <a:ext cx="57150" cy="28384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533400"/>
            <a:ext cx="6466514"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2. Executive Summary &amp; Problem Statement</a:t>
            </a:r>
          </a:p>
        </p:txBody>
      </p:sp>
      <p:sp>
        <p:nvSpPr>
          <p:cNvPr id="8" name="TextBox 7"/>
          <p:cNvSpPr txBox="1"/>
          <p:nvPr/>
        </p:nvSpPr>
        <p:spPr>
          <a:xfrm>
            <a:off x="762000" y="990600"/>
            <a:ext cx="1704441"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2.1 The Problem Context</a:t>
            </a:r>
          </a:p>
        </p:txBody>
      </p:sp>
      <p:sp>
        <p:nvSpPr>
          <p:cNvPr id="9" name="TextBox 8"/>
          <p:cNvSpPr txBox="1"/>
          <p:nvPr/>
        </p:nvSpPr>
        <p:spPr>
          <a:xfrm>
            <a:off x="1276350" y="2919412"/>
            <a:ext cx="9782175" cy="1695464"/>
          </a:xfrm>
          <a:prstGeom prst="rect">
            <a:avLst/>
          </a:prstGeom>
          <a:noFill/>
        </p:spPr>
        <p:txBody>
          <a:bodyPr wrap="square" lIns="0" tIns="0" rIns="0" bIns="0" anchor="t">
            <a:spAutoFit/>
          </a:bodyPr>
          <a:lstStyle/>
          <a:p>
            <a:pPr algn="l">
              <a:lnSpc>
                <a:spcPts val="2700"/>
              </a:lnSpc>
            </a:pPr>
            <a:r>
              <a:rPr sz="1500" b="0" i="0" u="none" dirty="0">
                <a:solidFill>
                  <a:srgbClr val="F8FAFC"/>
                </a:solidFill>
                <a:latin typeface="Times New Roman" panose="02020603050405020304" pitchFamily="18" charset="0"/>
                <a:cs typeface="Times New Roman" panose="02020603050405020304" pitchFamily="18" charset="0"/>
              </a:rPr>
              <a:t>Rapid advancements in Artificial Intelligence (AI) and Industry 4.0 automation reduce labor demand in routine technical roles, causing workforce displacement across industrial sectors in Malaysia. According to the WEF Future of Jobs Report 2025, automation poses a 28.5% substitution risk to more than 2,800 granular skills. Displaced workers face skill depreciation, wage stagnation, and a severe lack of transparent upskilling pathways. </a:t>
            </a:r>
            <a:r>
              <a:rPr lang="en-US" sz="1500" b="0" i="0" u="none" dirty="0">
                <a:solidFill>
                  <a:srgbClr val="F8FAFC"/>
                </a:solidFill>
                <a:latin typeface="Times New Roman" panose="02020603050405020304" pitchFamily="18" charset="0"/>
                <a:cs typeface="Times New Roman" panose="02020603050405020304" pitchFamily="18" charset="0"/>
              </a:rPr>
              <a:t>Our project provides structured, data-backed career transition pathways for workers adapting to shifting industrial demands.</a:t>
            </a:r>
            <a:endParaRPr sz="1500" b="0" i="0" u="none" dirty="0">
              <a:solidFill>
                <a:srgbClr val="F8FAFC"/>
              </a:solidFill>
              <a:latin typeface="Times New Roman" panose="02020603050405020304" pitchFamily="18" charset="0"/>
              <a:cs typeface="Times New Roman" panose="02020603050405020304" pitchFamily="18" charset="0"/>
            </a:endParaRPr>
          </a:p>
        </p:txBody>
      </p:sp>
      <p:pic>
        <p:nvPicPr>
          <p:cNvPr id="4" name="音频 3">
            <a:hlinkClick r:id="" action="ppaction://media"/>
            <a:extLst>
              <a:ext uri="{FF2B5EF4-FFF2-40B4-BE49-F238E27FC236}">
                <a16:creationId xmlns:a16="http://schemas.microsoft.com/office/drawing/2014/main" id="{F70C7E59-117D-B4DD-FAB9-DBCD42264B9D}"/>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36279">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ectangle 1"/>
          <p:cNvSpPr/>
          <p:nvPr/>
        </p:nvSpPr>
        <p:spPr>
          <a:xfrm>
            <a:off x="762000" y="2871787"/>
            <a:ext cx="10668000" cy="2152650"/>
          </a:xfrm>
          <a:prstGeom prst="rect">
            <a:avLst/>
          </a:prstGeom>
          <a:solidFill>
            <a:srgbClr val="111827"/>
          </a:solidFill>
          <a:ln>
            <a:solidFill>
              <a:srgbClr val="F8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871787"/>
            <a:ext cx="57150" cy="21526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533400"/>
            <a:ext cx="6466514"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2. Executive Summary &amp; Problem Statement</a:t>
            </a:r>
          </a:p>
        </p:txBody>
      </p:sp>
      <p:sp>
        <p:nvSpPr>
          <p:cNvPr id="8" name="TextBox 7"/>
          <p:cNvSpPr txBox="1"/>
          <p:nvPr/>
        </p:nvSpPr>
        <p:spPr>
          <a:xfrm>
            <a:off x="762000" y="990600"/>
            <a:ext cx="4751301"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2.2 The Proposed AI Solution — Platform Concept &amp; Matching Engine</a:t>
            </a:r>
          </a:p>
        </p:txBody>
      </p:sp>
      <p:sp>
        <p:nvSpPr>
          <p:cNvPr id="9" name="TextBox 8"/>
          <p:cNvSpPr txBox="1"/>
          <p:nvPr/>
        </p:nvSpPr>
        <p:spPr>
          <a:xfrm>
            <a:off x="1276350" y="3262312"/>
            <a:ext cx="9782175" cy="1371600"/>
          </a:xfrm>
          <a:prstGeom prst="rect">
            <a:avLst/>
          </a:prstGeom>
          <a:noFill/>
        </p:spPr>
        <p:txBody>
          <a:bodyPr wrap="square" lIns="0" tIns="0" rIns="0" bIns="0" anchor="t">
            <a:spAutoFit/>
          </a:bodyPr>
          <a:lstStyle/>
          <a:p>
            <a:pPr algn="l">
              <a:lnSpc>
                <a:spcPts val="2700"/>
              </a:lnSpc>
            </a:pPr>
            <a:r>
              <a:rPr sz="1500" b="0" i="0" u="none" dirty="0">
                <a:solidFill>
                  <a:srgbClr val="F8FAFC"/>
                </a:solidFill>
                <a:latin typeface="Times New Roman" panose="02020603050405020304" pitchFamily="18" charset="0"/>
                <a:cs typeface="Times New Roman" panose="02020603050405020304" pitchFamily="18" charset="0"/>
              </a:rPr>
              <a:t>We introduce </a:t>
            </a:r>
            <a:r>
              <a:rPr sz="1500" b="0" i="0" u="none" dirty="0" err="1">
                <a:solidFill>
                  <a:srgbClr val="F8FAFC"/>
                </a:solidFill>
                <a:latin typeface="Times New Roman" panose="02020603050405020304" pitchFamily="18" charset="0"/>
                <a:cs typeface="Times New Roman" panose="02020603050405020304" pitchFamily="18" charset="0"/>
              </a:rPr>
              <a:t>LumiPath</a:t>
            </a:r>
            <a:r>
              <a:rPr sz="1500" b="0" i="0" u="none" dirty="0">
                <a:solidFill>
                  <a:srgbClr val="F8FAFC"/>
                </a:solidFill>
                <a:latin typeface="Times New Roman" panose="02020603050405020304" pitchFamily="18" charset="0"/>
                <a:cs typeface="Times New Roman" panose="02020603050405020304" pitchFamily="18" charset="0"/>
              </a:rPr>
              <a:t> under the slogan “We will light the path to your future” to navigate career transitions and skill upgrades. </a:t>
            </a:r>
            <a:r>
              <a:rPr sz="1500" b="0" i="0" u="none" dirty="0" err="1">
                <a:solidFill>
                  <a:srgbClr val="F8FAFC"/>
                </a:solidFill>
                <a:latin typeface="Times New Roman" panose="02020603050405020304" pitchFamily="18" charset="0"/>
                <a:cs typeface="Times New Roman" panose="02020603050405020304" pitchFamily="18" charset="0"/>
              </a:rPr>
              <a:t>LumiPath</a:t>
            </a:r>
            <a:r>
              <a:rPr sz="1500" b="0" i="0" u="none" dirty="0">
                <a:solidFill>
                  <a:srgbClr val="F8FAFC"/>
                </a:solidFill>
                <a:latin typeface="Times New Roman" panose="02020603050405020304" pitchFamily="18" charset="0"/>
                <a:cs typeface="Times New Roman" panose="02020603050405020304" pitchFamily="18" charset="0"/>
              </a:rPr>
              <a:t> extracts unstructured resumes into standardized worker profiles. It integrates O*NET 28.1 data to assess emerging and declining skills, and executes deterministic mathematical matching (0.7 skill overlap + 0.3 tenure weight) to rank suitable target positions.</a:t>
            </a:r>
          </a:p>
        </p:txBody>
      </p:sp>
      <p:pic>
        <p:nvPicPr>
          <p:cNvPr id="4" name="音频 3">
            <a:hlinkClick r:id="" action="ppaction://media"/>
            <a:extLst>
              <a:ext uri="{FF2B5EF4-FFF2-40B4-BE49-F238E27FC236}">
                <a16:creationId xmlns:a16="http://schemas.microsoft.com/office/drawing/2014/main" id="{D981E942-BA64-9EF3-3570-36661708DEE3}"/>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2505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ectangle 1"/>
          <p:cNvSpPr/>
          <p:nvPr/>
        </p:nvSpPr>
        <p:spPr>
          <a:xfrm>
            <a:off x="762000" y="2700337"/>
            <a:ext cx="10668000" cy="2495550"/>
          </a:xfrm>
          <a:prstGeom prst="rect">
            <a:avLst/>
          </a:prstGeom>
          <a:solidFill>
            <a:srgbClr val="111827"/>
          </a:solidFill>
          <a:ln>
            <a:solidFill>
              <a:srgbClr val="F8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700337"/>
            <a:ext cx="57150" cy="24955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533400"/>
            <a:ext cx="6466514"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2. Executive Summary &amp; Problem Statement</a:t>
            </a:r>
          </a:p>
        </p:txBody>
      </p:sp>
      <p:sp>
        <p:nvSpPr>
          <p:cNvPr id="8" name="TextBox 7"/>
          <p:cNvSpPr txBox="1"/>
          <p:nvPr/>
        </p:nvSpPr>
        <p:spPr>
          <a:xfrm>
            <a:off x="762000" y="990600"/>
            <a:ext cx="5158015"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2.2 The Proposed AI Solution — Learning Pathways &amp; Automation Modeling</a:t>
            </a:r>
          </a:p>
        </p:txBody>
      </p:sp>
      <p:sp>
        <p:nvSpPr>
          <p:cNvPr id="9" name="TextBox 8"/>
          <p:cNvSpPr txBox="1"/>
          <p:nvPr/>
        </p:nvSpPr>
        <p:spPr>
          <a:xfrm>
            <a:off x="1276350" y="3090862"/>
            <a:ext cx="9782175" cy="1349216"/>
          </a:xfrm>
          <a:prstGeom prst="rect">
            <a:avLst/>
          </a:prstGeom>
          <a:noFill/>
        </p:spPr>
        <p:txBody>
          <a:bodyPr wrap="square" lIns="0" tIns="0" rIns="0" bIns="0" anchor="t">
            <a:spAutoFit/>
          </a:bodyPr>
          <a:lstStyle/>
          <a:p>
            <a:pPr algn="l">
              <a:lnSpc>
                <a:spcPts val="2700"/>
              </a:lnSpc>
            </a:pPr>
            <a:r>
              <a:rPr sz="1500" b="0" i="0" u="none" dirty="0">
                <a:solidFill>
                  <a:srgbClr val="F8FAFC"/>
                </a:solidFill>
                <a:latin typeface="Times New Roman" panose="02020603050405020304" pitchFamily="18" charset="0"/>
                <a:cs typeface="Times New Roman" panose="02020603050405020304" pitchFamily="18" charset="0"/>
              </a:rPr>
              <a:t>The platform generates a 3-stage learning pathway comprising foundational gap-filling, advanced skill acquisition, and statutory certifications linked to HRD Corp courses. </a:t>
            </a:r>
            <a:r>
              <a:rPr sz="1500" b="0" i="0" u="none" dirty="0" err="1">
                <a:solidFill>
                  <a:srgbClr val="F8FAFC"/>
                </a:solidFill>
                <a:latin typeface="Times New Roman" panose="02020603050405020304" pitchFamily="18" charset="0"/>
                <a:cs typeface="Times New Roman" panose="02020603050405020304" pitchFamily="18" charset="0"/>
              </a:rPr>
              <a:t>LumiPath</a:t>
            </a:r>
            <a:r>
              <a:rPr sz="1500" b="0" i="0" u="none" dirty="0">
                <a:solidFill>
                  <a:srgbClr val="F8FAFC"/>
                </a:solidFill>
                <a:latin typeface="Times New Roman" panose="02020603050405020304" pitchFamily="18" charset="0"/>
                <a:cs typeface="Times New Roman" panose="02020603050405020304" pitchFamily="18" charset="0"/>
              </a:rPr>
              <a:t> models transition risks across two scenarios: steady evolution (3–5 years) and rapid disruption (1–2 years), indicating automation timelines to guide worker decisions. Technically, </a:t>
            </a:r>
            <a:r>
              <a:rPr sz="1500" b="0" i="0" u="none" dirty="0" err="1">
                <a:solidFill>
                  <a:srgbClr val="F8FAFC"/>
                </a:solidFill>
                <a:latin typeface="Times New Roman" panose="02020603050405020304" pitchFamily="18" charset="0"/>
                <a:cs typeface="Times New Roman" panose="02020603050405020304" pitchFamily="18" charset="0"/>
              </a:rPr>
              <a:t>LumiPath</a:t>
            </a:r>
            <a:r>
              <a:rPr sz="1500" b="0" i="0" u="none" dirty="0">
                <a:solidFill>
                  <a:srgbClr val="F8FAFC"/>
                </a:solidFill>
                <a:latin typeface="Times New Roman" panose="02020603050405020304" pitchFamily="18" charset="0"/>
                <a:cs typeface="Times New Roman" panose="02020603050405020304" pitchFamily="18" charset="0"/>
              </a:rPr>
              <a:t> connects Google Gemini 2.5 Flash API, </a:t>
            </a:r>
            <a:r>
              <a:rPr sz="1500" b="0" i="0" u="none" dirty="0" err="1">
                <a:solidFill>
                  <a:srgbClr val="F8FAFC"/>
                </a:solidFill>
                <a:latin typeface="Times New Roman" panose="02020603050405020304" pitchFamily="18" charset="0"/>
                <a:cs typeface="Times New Roman" panose="02020603050405020304" pitchFamily="18" charset="0"/>
              </a:rPr>
              <a:t>RunPod</a:t>
            </a:r>
            <a:r>
              <a:rPr sz="1500" b="0" i="0" u="none" dirty="0">
                <a:solidFill>
                  <a:srgbClr val="F8FAFC"/>
                </a:solidFill>
                <a:latin typeface="Times New Roman" panose="02020603050405020304" pitchFamily="18" charset="0"/>
                <a:cs typeface="Times New Roman" panose="02020603050405020304" pitchFamily="18" charset="0"/>
              </a:rPr>
              <a:t> Serverless containers, and a lightweight Flask architecture hosted on </a:t>
            </a:r>
            <a:r>
              <a:rPr sz="1500" b="0" i="0" u="none" dirty="0" err="1">
                <a:solidFill>
                  <a:srgbClr val="F8FAFC"/>
                </a:solidFill>
                <a:latin typeface="Times New Roman" panose="02020603050405020304" pitchFamily="18" charset="0"/>
                <a:cs typeface="Times New Roman" panose="02020603050405020304" pitchFamily="18" charset="0"/>
              </a:rPr>
              <a:t>Replit</a:t>
            </a:r>
            <a:r>
              <a:rPr sz="1500" b="0" i="0" u="none" dirty="0">
                <a:solidFill>
                  <a:srgbClr val="F8FAFC"/>
                </a:solidFill>
                <a:latin typeface="Times New Roman" panose="02020603050405020304" pitchFamily="18" charset="0"/>
                <a:cs typeface="Times New Roman" panose="02020603050405020304" pitchFamily="18" charset="0"/>
              </a:rPr>
              <a:t>.</a:t>
            </a:r>
          </a:p>
        </p:txBody>
      </p:sp>
      <p:pic>
        <p:nvPicPr>
          <p:cNvPr id="4" name="音频 3">
            <a:hlinkClick r:id="" action="ppaction://media"/>
            <a:extLst>
              <a:ext uri="{FF2B5EF4-FFF2-40B4-BE49-F238E27FC236}">
                <a16:creationId xmlns:a16="http://schemas.microsoft.com/office/drawing/2014/main" id="{FFE18B4A-1F96-5D72-F02C-14B9D3262C3D}"/>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2898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ounded Rectangle 1"/>
          <p:cNvSpPr/>
          <p:nvPr/>
        </p:nvSpPr>
        <p:spPr>
          <a:xfrm>
            <a:off x="762000" y="2582316"/>
            <a:ext cx="10668000" cy="1091505"/>
          </a:xfrm>
          <a:prstGeom prst="roundRect">
            <a:avLst>
              <a:gd name="adj" fmla="val 10471"/>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582316"/>
            <a:ext cx="47625" cy="109150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2000" y="3902422"/>
            <a:ext cx="10668000" cy="1335285"/>
          </a:xfrm>
          <a:prstGeom prst="roundRect">
            <a:avLst>
              <a:gd name="adj" fmla="val 8559"/>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2000" y="3902422"/>
            <a:ext cx="47625" cy="133528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2000" y="533400"/>
            <a:ext cx="7025385"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3. Technical Architecture &amp; Implementation Plan</a:t>
            </a:r>
          </a:p>
        </p:txBody>
      </p:sp>
      <p:sp>
        <p:nvSpPr>
          <p:cNvPr id="13" name="TextBox 12"/>
          <p:cNvSpPr txBox="1"/>
          <p:nvPr/>
        </p:nvSpPr>
        <p:spPr>
          <a:xfrm>
            <a:off x="762000" y="990600"/>
            <a:ext cx="4374018"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3.1 Conceptual Tech Stack — Presentation &amp; Calculation Layers</a:t>
            </a:r>
          </a:p>
        </p:txBody>
      </p:sp>
      <p:sp>
        <p:nvSpPr>
          <p:cNvPr id="14" name="TextBox 13"/>
          <p:cNvSpPr txBox="1"/>
          <p:nvPr/>
        </p:nvSpPr>
        <p:spPr>
          <a:xfrm>
            <a:off x="1104900" y="2849016"/>
            <a:ext cx="100774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Presentation Layer:</a:t>
            </a:r>
          </a:p>
        </p:txBody>
      </p:sp>
      <p:sp>
        <p:nvSpPr>
          <p:cNvPr id="15" name="TextBox 14"/>
          <p:cNvSpPr txBox="1"/>
          <p:nvPr/>
        </p:nvSpPr>
        <p:spPr>
          <a:xfrm>
            <a:off x="1104900" y="4169122"/>
            <a:ext cx="100774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Core Calculation Layer:</a:t>
            </a:r>
          </a:p>
        </p:txBody>
      </p:sp>
      <p:sp>
        <p:nvSpPr>
          <p:cNvPr id="16" name="TextBox 15"/>
          <p:cNvSpPr txBox="1"/>
          <p:nvPr/>
        </p:nvSpPr>
        <p:spPr>
          <a:xfrm>
            <a:off x="1152525" y="3153816"/>
            <a:ext cx="5762796" cy="218778"/>
          </a:xfrm>
          <a:prstGeom prst="rect">
            <a:avLst/>
          </a:prstGeom>
          <a:noFill/>
        </p:spPr>
        <p:txBody>
          <a:bodyPr wrap="none" lIns="0" tIns="0" rIns="0" bIns="0" anchor="t">
            <a:spAutoFit/>
          </a:bodyPr>
          <a:lstStyle/>
          <a:p>
            <a:pPr algn="l">
              <a:lnSpc>
                <a:spcPts val="1920"/>
              </a:lnSpc>
            </a:pPr>
            <a:r>
              <a:rPr lang="en-US" sz="1200" b="0" i="0" u="none" dirty="0">
                <a:solidFill>
                  <a:srgbClr val="F8FAFC"/>
                </a:solidFill>
                <a:latin typeface="Times New Roman" panose="02020603050405020304" pitchFamily="18" charset="0"/>
                <a:cs typeface="Times New Roman" panose="02020603050405020304" pitchFamily="18" charset="0"/>
              </a:rPr>
              <a:t>Single-page web interface built with HTML5, CSS3, and JavaScript, served by Python Flask.</a:t>
            </a:r>
            <a:endParaRPr sz="1200" b="0" i="0" u="none" dirty="0">
              <a:solidFill>
                <a:srgbClr val="F8FAFC"/>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152525" y="4473922"/>
            <a:ext cx="10020300" cy="223394"/>
          </a:xfrm>
          <a:prstGeom prst="rect">
            <a:avLst/>
          </a:prstGeom>
          <a:noFill/>
        </p:spPr>
        <p:txBody>
          <a:bodyPr wrap="square" lIns="0" tIns="0" rIns="0" bIns="0" anchor="t">
            <a:spAutoFit/>
          </a:bodyPr>
          <a:lstStyle/>
          <a:p>
            <a:pPr algn="l">
              <a:lnSpc>
                <a:spcPts val="1920"/>
              </a:lnSpc>
            </a:pPr>
            <a:r>
              <a:rPr lang="en-US" sz="1200" b="0" i="0" u="none" dirty="0">
                <a:solidFill>
                  <a:srgbClr val="F8FAFC"/>
                </a:solidFill>
                <a:latin typeface="Times New Roman" panose="02020603050405020304" pitchFamily="18" charset="0"/>
                <a:cs typeface="Times New Roman" panose="02020603050405020304" pitchFamily="18" charset="0"/>
              </a:rPr>
              <a:t>Developed on Python 3.11, featuring </a:t>
            </a:r>
            <a:r>
              <a:rPr lang="en-US" sz="1200" b="0" i="0" u="none" dirty="0" err="1">
                <a:solidFill>
                  <a:srgbClr val="F8FAFC"/>
                </a:solidFill>
                <a:latin typeface="Times New Roman" panose="02020603050405020304" pitchFamily="18" charset="0"/>
                <a:cs typeface="Times New Roman" panose="02020603050405020304" pitchFamily="18" charset="0"/>
              </a:rPr>
              <a:t>RoleMatcherService</a:t>
            </a:r>
            <a:r>
              <a:rPr lang="en-US" sz="1200" b="0" i="0" u="none" dirty="0">
                <a:solidFill>
                  <a:srgbClr val="F8FAFC"/>
                </a:solidFill>
                <a:latin typeface="Times New Roman" panose="02020603050405020304" pitchFamily="18" charset="0"/>
                <a:cs typeface="Times New Roman" panose="02020603050405020304" pitchFamily="18" charset="0"/>
              </a:rPr>
              <a:t> (0.7 skill overlap + 0.3 tenure weight) and </a:t>
            </a:r>
            <a:r>
              <a:rPr lang="en-US" sz="1200" b="0" i="0" u="none" dirty="0" err="1">
                <a:solidFill>
                  <a:srgbClr val="F8FAFC"/>
                </a:solidFill>
                <a:latin typeface="Times New Roman" panose="02020603050405020304" pitchFamily="18" charset="0"/>
                <a:cs typeface="Times New Roman" panose="02020603050405020304" pitchFamily="18" charset="0"/>
              </a:rPr>
              <a:t>PathwayPlannerService</a:t>
            </a:r>
            <a:r>
              <a:rPr lang="en-US" sz="1200" b="0" i="0" u="none" dirty="0">
                <a:solidFill>
                  <a:srgbClr val="F8FAFC"/>
                </a:solidFill>
                <a:latin typeface="Times New Roman" panose="02020603050405020304" pitchFamily="18" charset="0"/>
                <a:cs typeface="Times New Roman" panose="02020603050405020304" pitchFamily="18" charset="0"/>
              </a:rPr>
              <a:t> (automated 3-stage course retrieval).</a:t>
            </a:r>
            <a:endParaRPr sz="1200" b="0" i="0" u="none" dirty="0">
              <a:solidFill>
                <a:srgbClr val="F8FAFC"/>
              </a:solidFill>
              <a:latin typeface="Times New Roman" panose="02020603050405020304" pitchFamily="18" charset="0"/>
              <a:cs typeface="Times New Roman" panose="02020603050405020304" pitchFamily="18" charset="0"/>
            </a:endParaRPr>
          </a:p>
        </p:txBody>
      </p:sp>
      <p:pic>
        <p:nvPicPr>
          <p:cNvPr id="4" name="音频 3">
            <a:hlinkClick r:id="" action="ppaction://media"/>
            <a:extLst>
              <a:ext uri="{FF2B5EF4-FFF2-40B4-BE49-F238E27FC236}">
                <a16:creationId xmlns:a16="http://schemas.microsoft.com/office/drawing/2014/main" id="{40F43EB4-4325-0D91-A580-CF97E3F2BE77}"/>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2384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7" name="Rounded Rectangle 6">
            <a:extLst>
              <a:ext uri="{FF2B5EF4-FFF2-40B4-BE49-F238E27FC236}">
                <a16:creationId xmlns:a16="http://schemas.microsoft.com/office/drawing/2014/main" id="{24DB9223-6C37-464A-E7E3-B251496F2E87}"/>
              </a:ext>
            </a:extLst>
          </p:cNvPr>
          <p:cNvSpPr/>
          <p:nvPr/>
        </p:nvSpPr>
        <p:spPr>
          <a:xfrm>
            <a:off x="762000" y="5016758"/>
            <a:ext cx="3436189" cy="1342666"/>
          </a:xfrm>
          <a:prstGeom prst="roundRect">
            <a:avLst>
              <a:gd name="adj" fmla="val 9600"/>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1"/>
          <p:cNvSpPr/>
          <p:nvPr/>
        </p:nvSpPr>
        <p:spPr>
          <a:xfrm>
            <a:off x="762000" y="1933575"/>
            <a:ext cx="3436189" cy="1235195"/>
          </a:xfrm>
          <a:prstGeom prst="roundRect">
            <a:avLst>
              <a:gd name="adj" fmla="val 9600"/>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1933574"/>
            <a:ext cx="47625" cy="123444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2000" y="3354846"/>
            <a:ext cx="3436189" cy="1475836"/>
          </a:xfrm>
          <a:prstGeom prst="roundRect">
            <a:avLst>
              <a:gd name="adj" fmla="val 9600"/>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1999" y="3358802"/>
            <a:ext cx="47625" cy="1472184"/>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2000" y="5016758"/>
            <a:ext cx="47625" cy="1344168"/>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2000" y="533400"/>
            <a:ext cx="7025385"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3. Technical Architecture &amp; Implementation Plan</a:t>
            </a:r>
          </a:p>
        </p:txBody>
      </p:sp>
      <p:sp>
        <p:nvSpPr>
          <p:cNvPr id="18" name="TextBox 17"/>
          <p:cNvSpPr txBox="1"/>
          <p:nvPr/>
        </p:nvSpPr>
        <p:spPr>
          <a:xfrm>
            <a:off x="762000" y="990600"/>
            <a:ext cx="4564326"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3.1 Conceptual Tech Stack — AI, Data Baselines &amp; Sponsor Usage</a:t>
            </a:r>
          </a:p>
        </p:txBody>
      </p:sp>
      <p:sp>
        <p:nvSpPr>
          <p:cNvPr id="19" name="TextBox 18"/>
          <p:cNvSpPr txBox="1"/>
          <p:nvPr/>
        </p:nvSpPr>
        <p:spPr>
          <a:xfrm>
            <a:off x="1066800" y="2081661"/>
            <a:ext cx="10153650" cy="184666"/>
          </a:xfrm>
          <a:prstGeom prst="rect">
            <a:avLst/>
          </a:prstGeom>
          <a:noFill/>
        </p:spPr>
        <p:txBody>
          <a:bodyPr wrap="square" lIns="0" tIns="0" rIns="0" bIns="0" anchor="t">
            <a:spAutoFit/>
          </a:bodyPr>
          <a:lstStyle/>
          <a:p>
            <a:pPr algn="l"/>
            <a:r>
              <a:rPr sz="1200" b="1" i="0" u="none" dirty="0">
                <a:solidFill>
                  <a:srgbClr val="FACC15"/>
                </a:solidFill>
                <a:latin typeface="Times New Roman" panose="02020603050405020304" pitchFamily="18" charset="0"/>
                <a:cs typeface="Times New Roman" panose="02020603050405020304" pitchFamily="18" charset="0"/>
              </a:rPr>
              <a:t>AI &amp; Reliability:</a:t>
            </a:r>
          </a:p>
        </p:txBody>
      </p:sp>
      <p:sp>
        <p:nvSpPr>
          <p:cNvPr id="20" name="TextBox 19"/>
          <p:cNvSpPr txBox="1"/>
          <p:nvPr/>
        </p:nvSpPr>
        <p:spPr>
          <a:xfrm>
            <a:off x="1066800" y="3490809"/>
            <a:ext cx="10153650" cy="184666"/>
          </a:xfrm>
          <a:prstGeom prst="rect">
            <a:avLst/>
          </a:prstGeom>
          <a:noFill/>
        </p:spPr>
        <p:txBody>
          <a:bodyPr wrap="square" lIns="0" tIns="0" rIns="0" bIns="0" anchor="t">
            <a:spAutoFit/>
          </a:bodyPr>
          <a:lstStyle/>
          <a:p>
            <a:pPr algn="l"/>
            <a:r>
              <a:rPr sz="1200" b="1" i="0" u="none" dirty="0">
                <a:solidFill>
                  <a:srgbClr val="FACC15"/>
                </a:solidFill>
                <a:latin typeface="Times New Roman" panose="02020603050405020304" pitchFamily="18" charset="0"/>
                <a:cs typeface="Times New Roman" panose="02020603050405020304" pitchFamily="18" charset="0"/>
              </a:rPr>
              <a:t>Authoritative Data Baselines:</a:t>
            </a:r>
          </a:p>
        </p:txBody>
      </p:sp>
      <p:sp>
        <p:nvSpPr>
          <p:cNvPr id="21" name="TextBox 20"/>
          <p:cNvSpPr txBox="1"/>
          <p:nvPr/>
        </p:nvSpPr>
        <p:spPr>
          <a:xfrm>
            <a:off x="1066800" y="5183242"/>
            <a:ext cx="10153650" cy="184666"/>
          </a:xfrm>
          <a:prstGeom prst="rect">
            <a:avLst/>
          </a:prstGeom>
          <a:noFill/>
        </p:spPr>
        <p:txBody>
          <a:bodyPr wrap="square" lIns="0" tIns="0" rIns="0" bIns="0" anchor="t">
            <a:spAutoFit/>
          </a:bodyPr>
          <a:lstStyle/>
          <a:p>
            <a:pPr algn="l"/>
            <a:r>
              <a:rPr sz="1200" b="1" i="0" u="none" dirty="0">
                <a:solidFill>
                  <a:srgbClr val="FACC15"/>
                </a:solidFill>
                <a:latin typeface="Times New Roman" panose="02020603050405020304" pitchFamily="18" charset="0"/>
                <a:cs typeface="Times New Roman" panose="02020603050405020304" pitchFamily="18" charset="0"/>
              </a:rPr>
              <a:t>Official SDC Sponsor Usage:</a:t>
            </a:r>
          </a:p>
        </p:txBody>
      </p:sp>
      <p:sp>
        <p:nvSpPr>
          <p:cNvPr id="22" name="TextBox 21"/>
          <p:cNvSpPr txBox="1"/>
          <p:nvPr/>
        </p:nvSpPr>
        <p:spPr>
          <a:xfrm>
            <a:off x="1066800" y="2308450"/>
            <a:ext cx="2957243" cy="668645"/>
          </a:xfrm>
          <a:prstGeom prst="rect">
            <a:avLst/>
          </a:prstGeom>
          <a:noFill/>
        </p:spPr>
        <p:txBody>
          <a:bodyPr wrap="square" lIns="0" tIns="0" rIns="0" bIns="0" anchor="t">
            <a:spAutoFit/>
          </a:bodyPr>
          <a:lstStyle/>
          <a:p>
            <a:pPr algn="l">
              <a:lnSpc>
                <a:spcPts val="1800"/>
              </a:lnSpc>
            </a:pPr>
            <a:r>
              <a:rPr lang="en-US" sz="1125" b="0" i="0" u="none" dirty="0">
                <a:solidFill>
                  <a:srgbClr val="F8FAFC"/>
                </a:solidFill>
                <a:latin typeface="Times New Roman" panose="02020603050405020304" pitchFamily="18" charset="0"/>
                <a:cs typeface="Times New Roman" panose="02020603050405020304" pitchFamily="18" charset="0"/>
              </a:rPr>
              <a:t>Google Gemini 2.5 Flash API with an 8.0-second network timeout circuit breaker and local snapshot fallback.</a:t>
            </a:r>
            <a:endParaRPr sz="1125" b="0" i="0" u="none" dirty="0">
              <a:solidFill>
                <a:srgbClr val="F8FAFC"/>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1066800" y="3715622"/>
            <a:ext cx="2957243" cy="899477"/>
          </a:xfrm>
          <a:prstGeom prst="rect">
            <a:avLst/>
          </a:prstGeom>
          <a:noFill/>
        </p:spPr>
        <p:txBody>
          <a:bodyPr wrap="square" lIns="0" tIns="0" rIns="0" bIns="0" anchor="t">
            <a:spAutoFit/>
          </a:bodyPr>
          <a:lstStyle/>
          <a:p>
            <a:pPr algn="l">
              <a:lnSpc>
                <a:spcPts val="1800"/>
              </a:lnSpc>
            </a:pPr>
            <a:r>
              <a:rPr sz="1125" b="0" i="0" u="none" dirty="0">
                <a:solidFill>
                  <a:srgbClr val="F8FAFC"/>
                </a:solidFill>
                <a:latin typeface="Times New Roman" panose="02020603050405020304" pitchFamily="18" charset="0"/>
                <a:cs typeface="Times New Roman" panose="02020603050405020304" pitchFamily="18" charset="0"/>
              </a:rPr>
              <a:t>Anchored in the US Department of Labor O*NET 28.1, Malaysia </a:t>
            </a:r>
            <a:r>
              <a:rPr sz="1125" b="0" i="0" u="none" dirty="0" err="1">
                <a:solidFill>
                  <a:srgbClr val="F8FAFC"/>
                </a:solidFill>
                <a:latin typeface="Times New Roman" panose="02020603050405020304" pitchFamily="18" charset="0"/>
                <a:cs typeface="Times New Roman" panose="02020603050405020304" pitchFamily="18" charset="0"/>
              </a:rPr>
              <a:t>TalentCorp</a:t>
            </a:r>
            <a:r>
              <a:rPr sz="1125" b="0" i="0" u="none" dirty="0">
                <a:solidFill>
                  <a:srgbClr val="F8FAFC"/>
                </a:solidFill>
                <a:latin typeface="Times New Roman" panose="02020603050405020304" pitchFamily="18" charset="0"/>
                <a:cs typeface="Times New Roman" panose="02020603050405020304" pitchFamily="18" charset="0"/>
              </a:rPr>
              <a:t> Critical Occupations List (COL), NIOSH Malaysia statutory syllabus, and UN A/RES/70/1.</a:t>
            </a:r>
          </a:p>
        </p:txBody>
      </p:sp>
      <p:sp>
        <p:nvSpPr>
          <p:cNvPr id="24" name="TextBox 23"/>
          <p:cNvSpPr txBox="1"/>
          <p:nvPr/>
        </p:nvSpPr>
        <p:spPr>
          <a:xfrm>
            <a:off x="1066799" y="5390293"/>
            <a:ext cx="2957243" cy="668645"/>
          </a:xfrm>
          <a:prstGeom prst="rect">
            <a:avLst/>
          </a:prstGeom>
          <a:noFill/>
        </p:spPr>
        <p:txBody>
          <a:bodyPr wrap="square" lIns="0" tIns="0" rIns="0" bIns="0" anchor="t">
            <a:spAutoFit/>
          </a:bodyPr>
          <a:lstStyle/>
          <a:p>
            <a:pPr algn="l">
              <a:lnSpc>
                <a:spcPts val="1800"/>
              </a:lnSpc>
            </a:pPr>
            <a:r>
              <a:rPr lang="en-MY" sz="1125" b="0" i="0" u="none" dirty="0" err="1">
                <a:solidFill>
                  <a:srgbClr val="F8FAFC"/>
                </a:solidFill>
                <a:latin typeface="Times New Roman" panose="02020603050405020304" pitchFamily="18" charset="0"/>
                <a:cs typeface="Times New Roman" panose="02020603050405020304" pitchFamily="18" charset="0"/>
              </a:rPr>
              <a:t>RunPod</a:t>
            </a:r>
            <a:r>
              <a:rPr lang="en-MY" sz="1125" b="0" i="0" u="none" dirty="0">
                <a:solidFill>
                  <a:srgbClr val="F8FAFC"/>
                </a:solidFill>
                <a:latin typeface="Times New Roman" panose="02020603050405020304" pitchFamily="18" charset="0"/>
                <a:cs typeface="Times New Roman" panose="02020603050405020304" pitchFamily="18" charset="0"/>
              </a:rPr>
              <a:t> Serverless GPU/CPU container endpoints for batch inference; </a:t>
            </a:r>
            <a:r>
              <a:rPr lang="en-MY" sz="1125" b="0" i="0" u="none" dirty="0" err="1">
                <a:solidFill>
                  <a:srgbClr val="F8FAFC"/>
                </a:solidFill>
                <a:latin typeface="Times New Roman" panose="02020603050405020304" pitchFamily="18" charset="0"/>
                <a:cs typeface="Times New Roman" panose="02020603050405020304" pitchFamily="18" charset="0"/>
              </a:rPr>
              <a:t>Replit</a:t>
            </a:r>
            <a:r>
              <a:rPr lang="en-MY" sz="1125" b="0" i="0" u="none" dirty="0">
                <a:solidFill>
                  <a:srgbClr val="F8FAFC"/>
                </a:solidFill>
                <a:latin typeface="Times New Roman" panose="02020603050405020304" pitchFamily="18" charset="0"/>
                <a:cs typeface="Times New Roman" panose="02020603050405020304" pitchFamily="18" charset="0"/>
              </a:rPr>
              <a:t> </a:t>
            </a:r>
            <a:r>
              <a:rPr lang="en-MY" sz="1125" b="0" i="0" u="none" dirty="0" err="1">
                <a:solidFill>
                  <a:srgbClr val="F8FAFC"/>
                </a:solidFill>
                <a:latin typeface="Times New Roman" panose="02020603050405020304" pitchFamily="18" charset="0"/>
                <a:cs typeface="Times New Roman" panose="02020603050405020304" pitchFamily="18" charset="0"/>
              </a:rPr>
              <a:t>Autoscale</a:t>
            </a:r>
            <a:r>
              <a:rPr lang="en-MY" sz="1125" b="0" i="0" u="none" dirty="0">
                <a:solidFill>
                  <a:srgbClr val="F8FAFC"/>
                </a:solidFill>
                <a:latin typeface="Times New Roman" panose="02020603050405020304" pitchFamily="18" charset="0"/>
                <a:cs typeface="Times New Roman" panose="02020603050405020304" pitchFamily="18" charset="0"/>
              </a:rPr>
              <a:t> for 24/7 online prototype hosting.</a:t>
            </a:r>
            <a:endParaRPr sz="1125" b="0" i="0" u="none" dirty="0">
              <a:solidFill>
                <a:srgbClr val="F8FAFC"/>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E46D220-94CA-1424-757A-969ABD9AB249}"/>
              </a:ext>
            </a:extLst>
          </p:cNvPr>
          <p:cNvSpPr txBox="1"/>
          <p:nvPr/>
        </p:nvSpPr>
        <p:spPr>
          <a:xfrm>
            <a:off x="695864" y="2237117"/>
            <a:ext cx="184731" cy="369332"/>
          </a:xfrm>
          <a:prstGeom prst="rect">
            <a:avLst/>
          </a:prstGeom>
          <a:noFill/>
        </p:spPr>
        <p:txBody>
          <a:bodyPr wrap="none" rtlCol="0">
            <a:spAutoFit/>
          </a:bodyPr>
          <a:lstStyle/>
          <a:p>
            <a:endParaRPr lang="en-MY" dirty="0"/>
          </a:p>
        </p:txBody>
      </p:sp>
      <p:pic>
        <p:nvPicPr>
          <p:cNvPr id="8" name="图片 7">
            <a:extLst>
              <a:ext uri="{FF2B5EF4-FFF2-40B4-BE49-F238E27FC236}">
                <a16:creationId xmlns:a16="http://schemas.microsoft.com/office/drawing/2014/main" id="{F2B7E41D-91BF-25B7-3F83-CACAD1202EB3}"/>
              </a:ext>
            </a:extLst>
          </p:cNvPr>
          <p:cNvPicPr>
            <a:picLocks noChangeAspect="1"/>
          </p:cNvPicPr>
          <p:nvPr/>
        </p:nvPicPr>
        <p:blipFill>
          <a:blip r:embed="rId4"/>
          <a:stretch>
            <a:fillRect/>
          </a:stretch>
        </p:blipFill>
        <p:spPr>
          <a:xfrm>
            <a:off x="5492212" y="1490092"/>
            <a:ext cx="5632988" cy="5029200"/>
          </a:xfrm>
          <a:prstGeom prst="rect">
            <a:avLst/>
          </a:prstGeom>
        </p:spPr>
      </p:pic>
      <p:pic>
        <p:nvPicPr>
          <p:cNvPr id="6" name="音频 5">
            <a:hlinkClick r:id="" action="ppaction://media"/>
            <a:extLst>
              <a:ext uri="{FF2B5EF4-FFF2-40B4-BE49-F238E27FC236}">
                <a16:creationId xmlns:a16="http://schemas.microsoft.com/office/drawing/2014/main" id="{2A543E33-D8CC-A030-9BAA-922492912D0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450000" t="-231250" r="-450000" b="-231250"/>
          <a:stretch>
            <a:fillRect/>
          </a:stretch>
        </p:blipFill>
        <p:spPr>
          <a:xfrm>
            <a:off x="9144000" y="5143500"/>
            <a:ext cx="3048000" cy="1714500"/>
          </a:xfrm>
          <a:prstGeom prst="rect">
            <a:avLst/>
          </a:prstGeom>
        </p:spPr>
      </p:pic>
    </p:spTree>
  </p:cSld>
  <p:clrMapOvr>
    <a:masterClrMapping/>
  </p:clrMapOvr>
  <p:transition advTm="3656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ectangle 1"/>
          <p:cNvSpPr/>
          <p:nvPr/>
        </p:nvSpPr>
        <p:spPr>
          <a:xfrm>
            <a:off x="762000" y="2528887"/>
            <a:ext cx="10668000" cy="28384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528887"/>
            <a:ext cx="57150" cy="28384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533400"/>
            <a:ext cx="7025385"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3. Technical Architecture &amp; Implementation Plan</a:t>
            </a:r>
          </a:p>
        </p:txBody>
      </p:sp>
      <p:sp>
        <p:nvSpPr>
          <p:cNvPr id="8" name="TextBox 7"/>
          <p:cNvSpPr txBox="1"/>
          <p:nvPr/>
        </p:nvSpPr>
        <p:spPr>
          <a:xfrm>
            <a:off x="762000" y="990600"/>
            <a:ext cx="2984791"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3.2 Design-Thinking &amp; Deployment Strategy</a:t>
            </a:r>
          </a:p>
        </p:txBody>
      </p:sp>
      <p:sp>
        <p:nvSpPr>
          <p:cNvPr id="9" name="TextBox 8"/>
          <p:cNvSpPr txBox="1"/>
          <p:nvPr/>
        </p:nvSpPr>
        <p:spPr>
          <a:xfrm>
            <a:off x="1276350" y="2919412"/>
            <a:ext cx="9782175" cy="1695464"/>
          </a:xfrm>
          <a:prstGeom prst="rect">
            <a:avLst/>
          </a:prstGeom>
          <a:noFill/>
        </p:spPr>
        <p:txBody>
          <a:bodyPr wrap="square" lIns="0" tIns="0" rIns="0" bIns="0" anchor="t">
            <a:spAutoFit/>
          </a:bodyPr>
          <a:lstStyle/>
          <a:p>
            <a:pPr algn="l">
              <a:lnSpc>
                <a:spcPts val="2700"/>
              </a:lnSpc>
            </a:pPr>
            <a:r>
              <a:rPr sz="1500" b="0" i="0" u="none" dirty="0" err="1">
                <a:solidFill>
                  <a:srgbClr val="F8FAFC"/>
                </a:solidFill>
                <a:latin typeface="Times New Roman" panose="02020603050405020304" pitchFamily="18" charset="0"/>
                <a:cs typeface="Times New Roman" panose="02020603050405020304" pitchFamily="18" charset="0"/>
              </a:rPr>
              <a:t>LumiPath</a:t>
            </a:r>
            <a:r>
              <a:rPr sz="1500" b="0" i="0" u="none" dirty="0">
                <a:solidFill>
                  <a:srgbClr val="F8FAFC"/>
                </a:solidFill>
                <a:latin typeface="Times New Roman" panose="02020603050405020304" pitchFamily="18" charset="0"/>
                <a:cs typeface="Times New Roman" panose="02020603050405020304" pitchFamily="18" charset="0"/>
              </a:rPr>
              <a:t> implements an editable human-in-the-loop workflow: users review and freely modify extracted profile fields and skill tags prior to computation. To address automation uncertainty, the interface visualizes dual disruption timelines (steady evolution vs rapid disruption), giving workers transparent time horizons. The prototype deploys on a native HTML/CSS/JS frontend served by Flask to eliminate multi-step navigation. Backend batch inference executes via </a:t>
            </a:r>
            <a:r>
              <a:rPr sz="1500" b="0" i="0" u="none" dirty="0" err="1">
                <a:solidFill>
                  <a:srgbClr val="F8FAFC"/>
                </a:solidFill>
                <a:latin typeface="Times New Roman" panose="02020603050405020304" pitchFamily="18" charset="0"/>
                <a:cs typeface="Times New Roman" panose="02020603050405020304" pitchFamily="18" charset="0"/>
              </a:rPr>
              <a:t>RunPod</a:t>
            </a:r>
            <a:r>
              <a:rPr sz="1500" b="0" i="0" u="none" dirty="0">
                <a:solidFill>
                  <a:srgbClr val="F8FAFC"/>
                </a:solidFill>
                <a:latin typeface="Times New Roman" panose="02020603050405020304" pitchFamily="18" charset="0"/>
                <a:cs typeface="Times New Roman" panose="02020603050405020304" pitchFamily="18" charset="0"/>
              </a:rPr>
              <a:t> Serverless containers, scaling dynamically under demand and idling at zero cost.</a:t>
            </a:r>
          </a:p>
        </p:txBody>
      </p:sp>
      <p:pic>
        <p:nvPicPr>
          <p:cNvPr id="4" name="音频 3">
            <a:hlinkClick r:id="" action="ppaction://media"/>
            <a:extLst>
              <a:ext uri="{FF2B5EF4-FFF2-40B4-BE49-F238E27FC236}">
                <a16:creationId xmlns:a16="http://schemas.microsoft.com/office/drawing/2014/main" id="{9716D3A3-DDC7-0206-1B31-5B321FF05E6B}"/>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3173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330B5-D9E7-944D-D8EC-D87501FE966F}"/>
              </a:ext>
            </a:extLst>
          </p:cNvPr>
          <p:cNvSpPr>
            <a:spLocks noGrp="1"/>
          </p:cNvSpPr>
          <p:nvPr>
            <p:ph type="title"/>
          </p:nvPr>
        </p:nvSpPr>
        <p:spPr>
          <a:xfrm>
            <a:off x="1981200" y="2151587"/>
            <a:ext cx="8229600" cy="2554826"/>
          </a:xfrm>
        </p:spPr>
        <p:txBody>
          <a:bodyPr>
            <a:noAutofit/>
          </a:bodyPr>
          <a:lstStyle/>
          <a:p>
            <a:r>
              <a:rPr lang="en-MY" sz="10000" dirty="0">
                <a:solidFill>
                  <a:srgbClr val="F8FAFC"/>
                </a:solidFill>
                <a:latin typeface="Bradley Hand ITC" panose="03070402050302030203" pitchFamily="66" charset="0"/>
                <a:cs typeface="Arial" panose="020B0604020202020204" pitchFamily="34" charset="0"/>
              </a:rPr>
              <a:t>Demo</a:t>
            </a:r>
          </a:p>
        </p:txBody>
      </p:sp>
      <p:pic>
        <p:nvPicPr>
          <p:cNvPr id="5" name="音频 4">
            <a:hlinkClick r:id="" action="ppaction://media"/>
            <a:extLst>
              <a:ext uri="{FF2B5EF4-FFF2-40B4-BE49-F238E27FC236}">
                <a16:creationId xmlns:a16="http://schemas.microsoft.com/office/drawing/2014/main" id="{97A235FC-705D-09D0-E062-DC254C0801CF}"/>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755427566"/>
      </p:ext>
    </p:extLst>
  </p:cSld>
  <p:clrMapOvr>
    <a:masterClrMapping/>
  </p:clrMapOvr>
  <mc:AlternateContent xmlns:mc="http://schemas.openxmlformats.org/markup-compatibility/2006">
    <mc:Choice xmlns:p14="http://schemas.microsoft.com/office/powerpoint/2010/main" Requires="p14">
      <p:transition spd="med" p14:dur="700" advTm="6160">
        <p:fade/>
      </p:transition>
    </mc:Choice>
    <mc:Fallback>
      <p:transition spd="med" advTm="616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ounded Rectangle 1"/>
          <p:cNvSpPr/>
          <p:nvPr/>
        </p:nvSpPr>
        <p:spPr>
          <a:xfrm>
            <a:off x="762000" y="2205335"/>
            <a:ext cx="10668000" cy="1719857"/>
          </a:xfrm>
          <a:prstGeom prst="roundRect">
            <a:avLst>
              <a:gd name="adj" fmla="val 6645"/>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205335"/>
            <a:ext cx="57150" cy="1719857"/>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2000" y="4153792"/>
            <a:ext cx="10668000" cy="1460896"/>
          </a:xfrm>
          <a:prstGeom prst="roundRect">
            <a:avLst>
              <a:gd name="adj" fmla="val 7823"/>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2000" y="4153792"/>
            <a:ext cx="57150" cy="1460896"/>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2000" y="533400"/>
            <a:ext cx="6343083"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4. Environmental &amp; SDG Impact Framework</a:t>
            </a:r>
          </a:p>
        </p:txBody>
      </p:sp>
      <p:sp>
        <p:nvSpPr>
          <p:cNvPr id="13" name="TextBox 12"/>
          <p:cNvSpPr txBox="1"/>
          <p:nvPr/>
        </p:nvSpPr>
        <p:spPr>
          <a:xfrm>
            <a:off x="762000" y="990600"/>
            <a:ext cx="3619132"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Target SDG Sub-Targets &amp; Current Problem Baseline</a:t>
            </a:r>
          </a:p>
        </p:txBody>
      </p:sp>
      <p:sp>
        <p:nvSpPr>
          <p:cNvPr id="14" name="TextBox 13"/>
          <p:cNvSpPr txBox="1"/>
          <p:nvPr/>
        </p:nvSpPr>
        <p:spPr>
          <a:xfrm>
            <a:off x="1143000" y="2510135"/>
            <a:ext cx="100012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Target SDG Sub-Target(s):</a:t>
            </a:r>
          </a:p>
        </p:txBody>
      </p:sp>
      <p:sp>
        <p:nvSpPr>
          <p:cNvPr id="15" name="TextBox 14"/>
          <p:cNvSpPr txBox="1"/>
          <p:nvPr/>
        </p:nvSpPr>
        <p:spPr>
          <a:xfrm>
            <a:off x="1143000" y="4458592"/>
            <a:ext cx="100012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Current Problem Baseline:</a:t>
            </a:r>
          </a:p>
        </p:txBody>
      </p:sp>
      <p:sp>
        <p:nvSpPr>
          <p:cNvPr id="16" name="TextBox 15"/>
          <p:cNvSpPr txBox="1"/>
          <p:nvPr/>
        </p:nvSpPr>
        <p:spPr>
          <a:xfrm>
            <a:off x="1200150" y="2833985"/>
            <a:ext cx="9934575" cy="745973"/>
          </a:xfrm>
          <a:prstGeom prst="rect">
            <a:avLst/>
          </a:prstGeom>
          <a:noFill/>
        </p:spPr>
        <p:txBody>
          <a:bodyPr wrap="square" lIns="0" tIns="0" rIns="0" bIns="0" anchor="t">
            <a:spAutoFit/>
          </a:bodyPr>
          <a:lstStyle/>
          <a:p>
            <a:pPr algn="l">
              <a:lnSpc>
                <a:spcPts val="2039"/>
              </a:lnSpc>
            </a:pPr>
            <a:r>
              <a:rPr lang="en-US" sz="1200" b="1" i="0" u="none" dirty="0">
                <a:solidFill>
                  <a:srgbClr val="F8FAFC"/>
                </a:solidFill>
                <a:latin typeface="Times New Roman" panose="02020603050405020304" pitchFamily="18" charset="0"/>
                <a:cs typeface="Times New Roman" panose="02020603050405020304" pitchFamily="18" charset="0"/>
              </a:rPr>
              <a:t>Target 4.4:</a:t>
            </a:r>
            <a:r>
              <a:rPr lang="en-US" sz="1200" i="0" u="none" dirty="0">
                <a:solidFill>
                  <a:srgbClr val="F8FAFC"/>
                </a:solidFill>
                <a:latin typeface="Times New Roman" panose="02020603050405020304" pitchFamily="18" charset="0"/>
                <a:cs typeface="Times New Roman" panose="02020603050405020304" pitchFamily="18" charset="0"/>
              </a:rPr>
              <a:t> “Increase the number of youth and adults that have relevant skills for employment, entrepreneurship and decent jobs.”</a:t>
            </a:r>
            <a:r>
              <a:rPr dirty="0">
                <a:solidFill>
                  <a:srgbClr val="F8FAFC"/>
                </a:solidFill>
                <a:latin typeface="Times New Roman" panose="02020603050405020304" pitchFamily="18" charset="0"/>
                <a:cs typeface="Times New Roman" panose="02020603050405020304" pitchFamily="18" charset="0"/>
              </a:rPr>
              <a:t>
</a:t>
            </a:r>
            <a:r>
              <a:rPr lang="en-US" sz="1200" b="1" i="0" u="none" dirty="0">
                <a:solidFill>
                  <a:srgbClr val="F8FAFC"/>
                </a:solidFill>
                <a:latin typeface="Times New Roman" panose="02020603050405020304" pitchFamily="18" charset="0"/>
                <a:cs typeface="Times New Roman" panose="02020603050405020304" pitchFamily="18" charset="0"/>
              </a:rPr>
              <a:t>Target 8.2:</a:t>
            </a:r>
            <a:r>
              <a:rPr lang="en-US" sz="1200" i="0" u="none" dirty="0">
                <a:solidFill>
                  <a:srgbClr val="F8FAFC"/>
                </a:solidFill>
                <a:latin typeface="Times New Roman" panose="02020603050405020304" pitchFamily="18" charset="0"/>
                <a:cs typeface="Times New Roman" panose="02020603050405020304" pitchFamily="18" charset="0"/>
              </a:rPr>
              <a:t> “Achieve higher levels of economic productivity through diversification, technological upgrading and innovation.”</a:t>
            </a:r>
            <a:endParaRPr sz="1200" i="0" u="none" dirty="0">
              <a:solidFill>
                <a:srgbClr val="F8FAFC"/>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200150" y="4782442"/>
            <a:ext cx="9934575" cy="489493"/>
          </a:xfrm>
          <a:prstGeom prst="rect">
            <a:avLst/>
          </a:prstGeom>
          <a:noFill/>
        </p:spPr>
        <p:txBody>
          <a:bodyPr wrap="square" lIns="0" tIns="0" rIns="0" bIns="0" anchor="t">
            <a:spAutoFit/>
          </a:bodyPr>
          <a:lstStyle/>
          <a:p>
            <a:pPr algn="l">
              <a:lnSpc>
                <a:spcPts val="2039"/>
              </a:lnSpc>
            </a:pPr>
            <a:r>
              <a:rPr sz="1200" b="0" i="0" u="none" dirty="0">
                <a:solidFill>
                  <a:srgbClr val="F8FAFC"/>
                </a:solidFill>
                <a:latin typeface="Times New Roman" panose="02020603050405020304" pitchFamily="18" charset="0"/>
                <a:cs typeface="Times New Roman" panose="02020603050405020304" pitchFamily="18" charset="0"/>
              </a:rPr>
              <a:t>28% of the more than 2,800 granular skills face moderate capacity of replacement. According to </a:t>
            </a:r>
            <a:r>
              <a:rPr sz="1200" b="0" i="0" u="none" dirty="0" err="1">
                <a:solidFill>
                  <a:srgbClr val="F8FAFC"/>
                </a:solidFill>
                <a:latin typeface="Times New Roman" panose="02020603050405020304" pitchFamily="18" charset="0"/>
                <a:cs typeface="Times New Roman" panose="02020603050405020304" pitchFamily="18" charset="0"/>
              </a:rPr>
              <a:t>Labour</a:t>
            </a:r>
            <a:r>
              <a:rPr sz="1200" b="0" i="0" u="none" dirty="0">
                <a:solidFill>
                  <a:srgbClr val="F8FAFC"/>
                </a:solidFill>
                <a:latin typeface="Times New Roman" panose="02020603050405020304" pitchFamily="18" charset="0"/>
                <a:cs typeface="Times New Roman" panose="02020603050405020304" pitchFamily="18" charset="0"/>
              </a:rPr>
              <a:t> Market Review, Second Quarter 2026 by DOSM, the skill-related underemployment rate stood at 35.2%.</a:t>
            </a:r>
          </a:p>
        </p:txBody>
      </p:sp>
      <p:pic>
        <p:nvPicPr>
          <p:cNvPr id="4" name="音频 3">
            <a:hlinkClick r:id="" action="ppaction://media"/>
            <a:extLst>
              <a:ext uri="{FF2B5EF4-FFF2-40B4-BE49-F238E27FC236}">
                <a16:creationId xmlns:a16="http://schemas.microsoft.com/office/drawing/2014/main" id="{52A2970A-4E77-E808-6812-AEF6CD0C2790}"/>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26936">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p:cNvGrpSpPr/>
        <p:nvPr/>
      </p:nvGrpSpPr>
      <p:grpSpPr>
        <a:xfrm>
          <a:off x="0" y="0"/>
          <a:ext cx="0" cy="0"/>
          <a:chOff x="0" y="0"/>
          <a:chExt cx="0" cy="0"/>
        </a:xfrm>
      </p:grpSpPr>
      <p:sp>
        <p:nvSpPr>
          <p:cNvPr id="2" name="Rounded Rectangle 1"/>
          <p:cNvSpPr/>
          <p:nvPr/>
        </p:nvSpPr>
        <p:spPr>
          <a:xfrm>
            <a:off x="762000" y="2311747"/>
            <a:ext cx="10668000" cy="1765845"/>
          </a:xfrm>
          <a:prstGeom prst="roundRect">
            <a:avLst>
              <a:gd name="adj" fmla="val 6472"/>
            </a:avLst>
          </a:prstGeom>
          <a:solidFill>
            <a:srgbClr val="111827"/>
          </a:solidFill>
          <a:ln w="12700">
            <a:solidFill>
              <a:srgbClr val="F8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311747"/>
            <a:ext cx="57150" cy="176584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2000" y="4306192"/>
            <a:ext cx="10668000" cy="1201935"/>
          </a:xfrm>
          <a:prstGeom prst="roundRect">
            <a:avLst>
              <a:gd name="adj" fmla="val 9509"/>
            </a:avLst>
          </a:prstGeom>
          <a:solidFill>
            <a:srgbClr val="111827"/>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2000" y="4306192"/>
            <a:ext cx="57150" cy="120193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2000" y="533400"/>
            <a:ext cx="6343083" cy="369332"/>
          </a:xfrm>
          <a:prstGeom prst="rect">
            <a:avLst/>
          </a:prstGeom>
          <a:noFill/>
        </p:spPr>
        <p:txBody>
          <a:bodyPr wrap="none" lIns="0" tIns="0" rIns="0" bIns="0" anchor="t">
            <a:spAutoFit/>
          </a:bodyPr>
          <a:lstStyle/>
          <a:p>
            <a:pPr algn="l"/>
            <a:r>
              <a:rPr sz="2400" b="1" i="0" u="none" dirty="0">
                <a:solidFill>
                  <a:srgbClr val="FACC15"/>
                </a:solidFill>
                <a:latin typeface="Arial" panose="020B0604020202020204" pitchFamily="34" charset="0"/>
                <a:cs typeface="Arial" panose="020B0604020202020204" pitchFamily="34" charset="0"/>
              </a:rPr>
              <a:t>4. Environmental &amp; SDG Impact Framework</a:t>
            </a:r>
          </a:p>
        </p:txBody>
      </p:sp>
      <p:sp>
        <p:nvSpPr>
          <p:cNvPr id="13" name="TextBox 12"/>
          <p:cNvSpPr txBox="1"/>
          <p:nvPr/>
        </p:nvSpPr>
        <p:spPr>
          <a:xfrm>
            <a:off x="762000" y="990600"/>
            <a:ext cx="3267946" cy="184666"/>
          </a:xfrm>
          <a:prstGeom prst="rect">
            <a:avLst/>
          </a:prstGeom>
          <a:noFill/>
        </p:spPr>
        <p:txBody>
          <a:bodyPr wrap="none" lIns="0" tIns="0" rIns="0" bIns="0" anchor="t">
            <a:spAutoFit/>
          </a:bodyPr>
          <a:lstStyle/>
          <a:p>
            <a:pPr algn="l"/>
            <a:r>
              <a:rPr sz="1200" b="0" i="0" u="none" dirty="0">
                <a:solidFill>
                  <a:srgbClr val="F8FAFC"/>
                </a:solidFill>
                <a:latin typeface="Arial" panose="020B0604020202020204" pitchFamily="34" charset="0"/>
                <a:cs typeface="Arial" panose="020B0604020202020204" pitchFamily="34" charset="0"/>
              </a:rPr>
              <a:t>Core Measurable KPIs &amp; Phase 2 Impact Target</a:t>
            </a:r>
          </a:p>
        </p:txBody>
      </p:sp>
      <p:sp>
        <p:nvSpPr>
          <p:cNvPr id="14" name="TextBox 13"/>
          <p:cNvSpPr txBox="1"/>
          <p:nvPr/>
        </p:nvSpPr>
        <p:spPr>
          <a:xfrm>
            <a:off x="1143000" y="2616547"/>
            <a:ext cx="100012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Core Measurable KPI:</a:t>
            </a:r>
          </a:p>
        </p:txBody>
      </p:sp>
      <p:sp>
        <p:nvSpPr>
          <p:cNvPr id="15" name="TextBox 14"/>
          <p:cNvSpPr txBox="1"/>
          <p:nvPr/>
        </p:nvSpPr>
        <p:spPr>
          <a:xfrm>
            <a:off x="1143000" y="4610992"/>
            <a:ext cx="10001250" cy="207749"/>
          </a:xfrm>
          <a:prstGeom prst="rect">
            <a:avLst/>
          </a:prstGeom>
          <a:noFill/>
        </p:spPr>
        <p:txBody>
          <a:bodyPr wrap="square" lIns="0" tIns="0" rIns="0" bIns="0" anchor="t">
            <a:spAutoFit/>
          </a:bodyPr>
          <a:lstStyle/>
          <a:p>
            <a:pPr algn="l"/>
            <a:r>
              <a:rPr sz="1350" b="1" i="0" u="none" dirty="0">
                <a:solidFill>
                  <a:srgbClr val="FACC15"/>
                </a:solidFill>
                <a:latin typeface="Times New Roman" panose="02020603050405020304" pitchFamily="18" charset="0"/>
                <a:cs typeface="Times New Roman" panose="02020603050405020304" pitchFamily="18" charset="0"/>
              </a:rPr>
              <a:t>Phase 2 Impact Target:</a:t>
            </a:r>
          </a:p>
        </p:txBody>
      </p:sp>
      <p:sp>
        <p:nvSpPr>
          <p:cNvPr id="16" name="TextBox 15"/>
          <p:cNvSpPr txBox="1"/>
          <p:nvPr/>
        </p:nvSpPr>
        <p:spPr>
          <a:xfrm>
            <a:off x="1200150" y="2940397"/>
            <a:ext cx="9934575" cy="822870"/>
          </a:xfrm>
          <a:prstGeom prst="rect">
            <a:avLst/>
          </a:prstGeom>
          <a:noFill/>
        </p:spPr>
        <p:txBody>
          <a:bodyPr wrap="square" lIns="0" tIns="0" rIns="0" bIns="0" anchor="t">
            <a:spAutoFit/>
          </a:bodyPr>
          <a:lstStyle/>
          <a:p>
            <a:pPr algn="l">
              <a:lnSpc>
                <a:spcPts val="2160"/>
              </a:lnSpc>
            </a:pPr>
            <a:r>
              <a:rPr sz="1200" b="0" i="0" u="none" dirty="0">
                <a:solidFill>
                  <a:srgbClr val="F8FAFC"/>
                </a:solidFill>
                <a:latin typeface="Times New Roman" panose="02020603050405020304" pitchFamily="18" charset="0"/>
                <a:cs typeface="Times New Roman" panose="02020603050405020304" pitchFamily="18" charset="0"/>
              </a:rPr>
              <a:t>• </a:t>
            </a:r>
            <a:r>
              <a:rPr sz="1200" b="1" i="0" u="none" dirty="0">
                <a:solidFill>
                  <a:srgbClr val="F8FAFC"/>
                </a:solidFill>
                <a:latin typeface="Times New Roman" panose="02020603050405020304" pitchFamily="18" charset="0"/>
                <a:cs typeface="Times New Roman" panose="02020603050405020304" pitchFamily="18" charset="0"/>
              </a:rPr>
              <a:t>Alignment rate</a:t>
            </a:r>
            <a:r>
              <a:rPr sz="1200" b="0" i="0" u="none" dirty="0">
                <a:solidFill>
                  <a:srgbClr val="F8FAFC"/>
                </a:solidFill>
                <a:latin typeface="Times New Roman" panose="02020603050405020304" pitchFamily="18" charset="0"/>
                <a:cs typeface="Times New Roman" panose="02020603050405020304" pitchFamily="18" charset="0"/>
              </a:rPr>
              <a:t> of reshaped roles with National Critical Occupations List (COL): </a:t>
            </a:r>
            <a:r>
              <a:rPr sz="1200" b="1" i="0" u="none" dirty="0">
                <a:solidFill>
                  <a:srgbClr val="F8FAFC"/>
                </a:solidFill>
                <a:latin typeface="Times New Roman" panose="02020603050405020304" pitchFamily="18" charset="0"/>
                <a:cs typeface="Times New Roman" panose="02020603050405020304" pitchFamily="18" charset="0"/>
              </a:rPr>
              <a:t>100%</a:t>
            </a:r>
            <a:r>
              <a:rPr dirty="0">
                <a:solidFill>
                  <a:srgbClr val="F8FAFC"/>
                </a:solidFill>
                <a:latin typeface="Times New Roman" panose="02020603050405020304" pitchFamily="18" charset="0"/>
                <a:cs typeface="Times New Roman" panose="02020603050405020304" pitchFamily="18" charset="0"/>
              </a:rPr>
              <a:t>
</a:t>
            </a:r>
            <a:r>
              <a:rPr sz="1200" b="0" i="0" u="none" dirty="0">
                <a:solidFill>
                  <a:srgbClr val="F8FAFC"/>
                </a:solidFill>
                <a:latin typeface="Times New Roman" panose="02020603050405020304" pitchFamily="18" charset="0"/>
                <a:cs typeface="Times New Roman" panose="02020603050405020304" pitchFamily="18" charset="0"/>
              </a:rPr>
              <a:t> • </a:t>
            </a:r>
            <a:r>
              <a:rPr sz="1200" b="1" i="0" u="none" dirty="0">
                <a:solidFill>
                  <a:srgbClr val="F8FAFC"/>
                </a:solidFill>
                <a:latin typeface="Times New Roman" panose="02020603050405020304" pitchFamily="18" charset="0"/>
                <a:cs typeface="Times New Roman" panose="02020603050405020304" pitchFamily="18" charset="0"/>
              </a:rPr>
              <a:t>Target role skill gap resolution coverage:</a:t>
            </a:r>
            <a:r>
              <a:rPr sz="1200" b="0" i="0" u="none" dirty="0">
                <a:solidFill>
                  <a:srgbClr val="F8FAFC"/>
                </a:solidFill>
                <a:latin typeface="Times New Roman" panose="02020603050405020304" pitchFamily="18" charset="0"/>
                <a:cs typeface="Times New Roman" panose="02020603050405020304" pitchFamily="18" charset="0"/>
              </a:rPr>
              <a:t> </a:t>
            </a:r>
            <a:r>
              <a:rPr sz="1200" b="1" i="0" u="none" dirty="0">
                <a:solidFill>
                  <a:srgbClr val="F8FAFC"/>
                </a:solidFill>
                <a:latin typeface="Times New Roman" panose="02020603050405020304" pitchFamily="18" charset="0"/>
                <a:cs typeface="Times New Roman" panose="02020603050405020304" pitchFamily="18" charset="0"/>
              </a:rPr>
              <a:t>100%</a:t>
            </a:r>
            <a:r>
              <a:rPr dirty="0">
                <a:solidFill>
                  <a:srgbClr val="F8FAFC"/>
                </a:solidFill>
                <a:latin typeface="Times New Roman" panose="02020603050405020304" pitchFamily="18" charset="0"/>
                <a:cs typeface="Times New Roman" panose="02020603050405020304" pitchFamily="18" charset="0"/>
              </a:rPr>
              <a:t>
</a:t>
            </a:r>
            <a:r>
              <a:rPr sz="1200" b="0" i="0" u="none" dirty="0">
                <a:solidFill>
                  <a:srgbClr val="F8FAFC"/>
                </a:solidFill>
                <a:latin typeface="Times New Roman" panose="02020603050405020304" pitchFamily="18" charset="0"/>
                <a:cs typeface="Times New Roman" panose="02020603050405020304" pitchFamily="18" charset="0"/>
              </a:rPr>
              <a:t> • </a:t>
            </a:r>
            <a:r>
              <a:rPr sz="1200" b="1" i="0" u="none" dirty="0">
                <a:solidFill>
                  <a:srgbClr val="F8FAFC"/>
                </a:solidFill>
                <a:latin typeface="Times New Roman" panose="02020603050405020304" pitchFamily="18" charset="0"/>
                <a:cs typeface="Times New Roman" panose="02020603050405020304" pitchFamily="18" charset="0"/>
              </a:rPr>
              <a:t>Employer training levy </a:t>
            </a:r>
            <a:r>
              <a:rPr sz="1200" b="1" i="0" u="none" dirty="0" err="1">
                <a:solidFill>
                  <a:srgbClr val="F8FAFC"/>
                </a:solidFill>
                <a:latin typeface="Times New Roman" panose="02020603050405020304" pitchFamily="18" charset="0"/>
                <a:cs typeface="Times New Roman" panose="02020603050405020304" pitchFamily="18" charset="0"/>
              </a:rPr>
              <a:t>claimability</a:t>
            </a:r>
            <a:r>
              <a:rPr sz="1200" b="1" i="0" u="none" dirty="0">
                <a:solidFill>
                  <a:srgbClr val="F8FAFC"/>
                </a:solidFill>
                <a:latin typeface="Times New Roman" panose="02020603050405020304" pitchFamily="18" charset="0"/>
                <a:cs typeface="Times New Roman" panose="02020603050405020304" pitchFamily="18" charset="0"/>
              </a:rPr>
              <a:t> coverage</a:t>
            </a:r>
            <a:r>
              <a:rPr sz="1200" b="0" i="0" u="none" dirty="0">
                <a:solidFill>
                  <a:srgbClr val="F8FAFC"/>
                </a:solidFill>
                <a:latin typeface="Times New Roman" panose="02020603050405020304" pitchFamily="18" charset="0"/>
                <a:cs typeface="Times New Roman" panose="02020603050405020304" pitchFamily="18" charset="0"/>
              </a:rPr>
              <a:t> (HRD Corp Claimable) for advanced certifications: </a:t>
            </a:r>
            <a:r>
              <a:rPr sz="1200" b="1" i="0" u="none" dirty="0">
                <a:solidFill>
                  <a:srgbClr val="F8FAFC"/>
                </a:solidFill>
                <a:latin typeface="Times New Roman" panose="02020603050405020304" pitchFamily="18" charset="0"/>
                <a:cs typeface="Times New Roman" panose="02020603050405020304" pitchFamily="18" charset="0"/>
              </a:rPr>
              <a:t>100% by Phase 3</a:t>
            </a:r>
          </a:p>
        </p:txBody>
      </p:sp>
      <p:sp>
        <p:nvSpPr>
          <p:cNvPr id="17" name="TextBox 16"/>
          <p:cNvSpPr txBox="1"/>
          <p:nvPr/>
        </p:nvSpPr>
        <p:spPr>
          <a:xfrm>
            <a:off x="1200150" y="4934842"/>
            <a:ext cx="3717428" cy="233013"/>
          </a:xfrm>
          <a:prstGeom prst="rect">
            <a:avLst/>
          </a:prstGeom>
          <a:noFill/>
        </p:spPr>
        <p:txBody>
          <a:bodyPr wrap="none" lIns="0" tIns="0" rIns="0" bIns="0" anchor="t">
            <a:spAutoFit/>
          </a:bodyPr>
          <a:lstStyle/>
          <a:p>
            <a:pPr algn="l">
              <a:lnSpc>
                <a:spcPts val="2039"/>
              </a:lnSpc>
            </a:pPr>
            <a:r>
              <a:rPr sz="1200" b="0" i="0" u="none" dirty="0">
                <a:solidFill>
                  <a:srgbClr val="F8FAFC"/>
                </a:solidFill>
                <a:latin typeface="Times New Roman" panose="02020603050405020304" pitchFamily="18" charset="0"/>
                <a:cs typeface="Times New Roman" panose="02020603050405020304" pitchFamily="18" charset="0"/>
              </a:rPr>
              <a:t>Scale to </a:t>
            </a:r>
            <a:r>
              <a:rPr sz="1200" b="1" i="0" u="none" dirty="0">
                <a:solidFill>
                  <a:srgbClr val="F8FAFC"/>
                </a:solidFill>
                <a:latin typeface="Times New Roman" panose="02020603050405020304" pitchFamily="18" charset="0"/>
                <a:cs typeface="Times New Roman" panose="02020603050405020304" pitchFamily="18" charset="0"/>
              </a:rPr>
              <a:t>5+ industrial fields</a:t>
            </a:r>
            <a:r>
              <a:rPr sz="1200" b="0" i="0" u="none" dirty="0">
                <a:solidFill>
                  <a:srgbClr val="F8FAFC"/>
                </a:solidFill>
                <a:latin typeface="Times New Roman" panose="02020603050405020304" pitchFamily="18" charset="0"/>
                <a:cs typeface="Times New Roman" panose="02020603050405020304" pitchFamily="18" charset="0"/>
              </a:rPr>
              <a:t> by final prototype presentation.</a:t>
            </a:r>
          </a:p>
        </p:txBody>
      </p:sp>
      <p:pic>
        <p:nvPicPr>
          <p:cNvPr id="6" name="音频 5">
            <a:hlinkClick r:id="" action="ppaction://media"/>
            <a:extLst>
              <a:ext uri="{FF2B5EF4-FFF2-40B4-BE49-F238E27FC236}">
                <a16:creationId xmlns:a16="http://schemas.microsoft.com/office/drawing/2014/main" id="{DC3F894E-A88A-0E02-AFF2-C03EF22794E7}"/>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cSld>
  <p:clrMapOvr>
    <a:masterClrMapping/>
  </p:clrMapOvr>
  <p:transition advTm="2669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E17"/>
        </a:solidFill>
        <a:effectLst/>
      </p:bgPr>
    </p:bg>
    <p:spTree>
      <p:nvGrpSpPr>
        <p:cNvPr id="1" name="">
          <a:extLst>
            <a:ext uri="{FF2B5EF4-FFF2-40B4-BE49-F238E27FC236}">
              <a16:creationId xmlns:a16="http://schemas.microsoft.com/office/drawing/2014/main" id="{E121201A-F960-A8AA-12CC-CC30B05A81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4AA42B-7307-95AF-E8B1-174DFAF4E198}"/>
              </a:ext>
            </a:extLst>
          </p:cNvPr>
          <p:cNvSpPr>
            <a:spLocks noGrp="1"/>
          </p:cNvSpPr>
          <p:nvPr>
            <p:ph type="title"/>
          </p:nvPr>
        </p:nvSpPr>
        <p:spPr>
          <a:xfrm>
            <a:off x="1981200" y="2151587"/>
            <a:ext cx="8229600" cy="2554826"/>
          </a:xfrm>
        </p:spPr>
        <p:txBody>
          <a:bodyPr>
            <a:noAutofit/>
          </a:bodyPr>
          <a:lstStyle/>
          <a:p>
            <a:r>
              <a:rPr lang="en-MY" sz="10000" dirty="0">
                <a:solidFill>
                  <a:srgbClr val="F8FAFC"/>
                </a:solidFill>
                <a:latin typeface="Bradley Hand ITC" panose="03070402050302030203" pitchFamily="66" charset="0"/>
                <a:cs typeface="Arial" panose="020B0604020202020204" pitchFamily="34" charset="0"/>
              </a:rPr>
              <a:t>Thank You</a:t>
            </a:r>
          </a:p>
        </p:txBody>
      </p:sp>
      <p:pic>
        <p:nvPicPr>
          <p:cNvPr id="5" name="音频 4">
            <a:hlinkClick r:id="" action="ppaction://media"/>
            <a:extLst>
              <a:ext uri="{FF2B5EF4-FFF2-40B4-BE49-F238E27FC236}">
                <a16:creationId xmlns:a16="http://schemas.microsoft.com/office/drawing/2014/main" id="{CA50BB7D-0936-B5FC-E506-CDA7916BD8B8}"/>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450000" t="-231250" r="-450000" b="-231250"/>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057417644"/>
      </p:ext>
    </p:extLst>
  </p:cSld>
  <p:clrMapOvr>
    <a:masterClrMapping/>
  </p:clrMapOvr>
  <p:transition spd="slow" advTm="2924">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767</TotalTime>
  <Words>813</Words>
  <Application>Microsoft Office PowerPoint</Application>
  <PresentationFormat>宽屏</PresentationFormat>
  <Paragraphs>61</Paragraphs>
  <Slides>12</Slides>
  <Notes>1</Notes>
  <HiddenSlides>0</HiddenSlides>
  <MMClips>12</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Times New Roman</vt:lpstr>
      <vt:lpstr>Calibri</vt:lpstr>
      <vt:lpstr>Arial</vt:lpstr>
      <vt:lpstr>Bradley Hand ITC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Demo</vt:lpstr>
      <vt:lpstr>PowerPoint 演示文稿</vt:lpstr>
      <vt:lpstr>PowerPoint 演示文稿</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LIM ELSON</cp:lastModifiedBy>
  <cp:revision>6</cp:revision>
  <dcterms:created xsi:type="dcterms:W3CDTF">2013-01-27T09:14:16Z</dcterms:created>
  <dcterms:modified xsi:type="dcterms:W3CDTF">2026-10-24T20:15:35Z</dcterms:modified>
  <cp:category/>
</cp:coreProperties>
</file>